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73" r:id="rId20"/>
    <p:sldId id="274" r:id="rId21"/>
    <p:sldId id="275" r:id="rId22"/>
    <p:sldId id="276" r:id="rId23"/>
    <p:sldId id="277" r:id="rId24"/>
    <p:sldId id="278" r:id="rId25"/>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660" autoAdjust="0"/>
  </p:normalViewPr>
  <p:slideViewPr>
    <p:cSldViewPr snapToGrid="0">
      <p:cViewPr varScale="1">
        <p:scale>
          <a:sx n="138" d="100"/>
          <a:sy n="138" d="100"/>
        </p:scale>
        <p:origin x="198" y="10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B01EBEA-7678-45C6-9A4A-B323D4A6183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0" y="0"/>
            <a:ext cx="0" cy="0"/>
          </a:xfrm>
          <a:prstGeom prst="rect">
            <a:avLst/>
          </a:prstGeom>
          <a:ln w="0">
            <a:noFill/>
          </a:ln>
        </p:spPr>
      </p:sp>
      <p:sp>
        <p:nvSpPr>
          <p:cNvPr id="206"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07" name="PlaceHolder 3"/>
          <p:cNvSpPr>
            <a:spLocks noGrp="1"/>
          </p:cNvSpPr>
          <p:nvPr>
            <p:ph type="sldNum" idx="4"/>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E14F4DA4-BCA5-434E-A931-49231CE158A6}" type="slidenum">
              <a:rPr lang="en-US" sz="1800" b="0" u="none" strike="noStrike">
                <a:solidFill>
                  <a:schemeClr val="dk1"/>
                </a:solidFill>
                <a:effectLst/>
                <a:uFillTx/>
                <a:latin typeface="+mn-lt"/>
                <a:ea typeface="+mn-ea"/>
              </a:rPr>
              <a:t>1</a:t>
            </a:fld>
            <a:endParaRPr lang="en-US"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0" y="0"/>
            <a:ext cx="0" cy="0"/>
          </a:xfrm>
          <a:prstGeom prst="rect">
            <a:avLst/>
          </a:prstGeom>
          <a:ln w="0">
            <a:noFill/>
          </a:ln>
        </p:spPr>
      </p:sp>
      <p:sp>
        <p:nvSpPr>
          <p:cNvPr id="209"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10" name="PlaceHolder 3"/>
          <p:cNvSpPr>
            <a:spLocks noGrp="1"/>
          </p:cNvSpPr>
          <p:nvPr>
            <p:ph type="sldNum" idx="5"/>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9F5A1E59-C797-4296-8410-2A10EDBDB361}" type="slidenum">
              <a:rPr lang="en-US" sz="1800" b="0" u="none" strike="noStrike">
                <a:solidFill>
                  <a:schemeClr val="dk1"/>
                </a:solidFill>
                <a:effectLst/>
                <a:uFillTx/>
                <a:latin typeface="+mn-lt"/>
                <a:ea typeface="+mn-ea"/>
              </a:rPr>
              <a:t>2</a:t>
            </a:fld>
            <a:endParaRPr lang="en-US"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noRot="1" noChangeAspect="1"/>
          </p:cNvSpPr>
          <p:nvPr>
            <p:ph type="sldImg"/>
          </p:nvPr>
        </p:nvSpPr>
        <p:spPr>
          <a:xfrm>
            <a:off x="0" y="0"/>
            <a:ext cx="0" cy="0"/>
          </a:xfrm>
          <a:prstGeom prst="rect">
            <a:avLst/>
          </a:prstGeom>
          <a:ln w="0">
            <a:noFill/>
          </a:ln>
        </p:spPr>
      </p:sp>
      <p:sp>
        <p:nvSpPr>
          <p:cNvPr id="212"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13" name="PlaceHolder 3"/>
          <p:cNvSpPr>
            <a:spLocks noGrp="1"/>
          </p:cNvSpPr>
          <p:nvPr>
            <p:ph type="sldNum" idx="6"/>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FC47B31A-927A-4AC7-8162-ABAF2411B078}" type="slidenum">
              <a:rPr lang="en-US" sz="1800" b="0" u="none" strike="noStrike">
                <a:solidFill>
                  <a:schemeClr val="dk1"/>
                </a:solidFill>
                <a:effectLst/>
                <a:uFillTx/>
                <a:latin typeface="+mn-lt"/>
                <a:ea typeface="+mn-ea"/>
              </a:rPr>
              <a:t>3</a:t>
            </a:fld>
            <a:endParaRPr lang="en-US"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0" y="0"/>
            <a:ext cx="0" cy="0"/>
          </a:xfrm>
          <a:prstGeom prst="rect">
            <a:avLst/>
          </a:prstGeom>
          <a:ln w="0">
            <a:noFill/>
          </a:ln>
        </p:spPr>
      </p:sp>
      <p:sp>
        <p:nvSpPr>
          <p:cNvPr id="215"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16" name="PlaceHolder 3"/>
          <p:cNvSpPr>
            <a:spLocks noGrp="1"/>
          </p:cNvSpPr>
          <p:nvPr>
            <p:ph type="sldNum" idx="7"/>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FC394271-0F74-4A4C-9EB3-5CEA0AD0C938}" type="slidenum">
              <a:rPr lang="en-US" sz="1800" b="0" u="none" strike="noStrike">
                <a:solidFill>
                  <a:schemeClr val="dk1"/>
                </a:solidFill>
                <a:effectLst/>
                <a:uFillTx/>
                <a:latin typeface="+mn-lt"/>
                <a:ea typeface="+mn-ea"/>
              </a:rPr>
              <a:t>4</a:t>
            </a:fld>
            <a:endParaRPr lang="en-US"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noRot="1" noChangeAspect="1"/>
          </p:cNvSpPr>
          <p:nvPr>
            <p:ph type="sldImg"/>
          </p:nvPr>
        </p:nvSpPr>
        <p:spPr>
          <a:xfrm>
            <a:off x="0" y="0"/>
            <a:ext cx="0" cy="0"/>
          </a:xfrm>
          <a:prstGeom prst="rect">
            <a:avLst/>
          </a:prstGeom>
          <a:ln w="0">
            <a:noFill/>
          </a:ln>
        </p:spPr>
      </p:sp>
      <p:sp>
        <p:nvSpPr>
          <p:cNvPr id="218"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19" name="PlaceHolder 3"/>
          <p:cNvSpPr>
            <a:spLocks noGrp="1"/>
          </p:cNvSpPr>
          <p:nvPr>
            <p:ph type="sldNum" idx="8"/>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ED56D684-E684-427F-B5CB-422FEC67BB2B}" type="slidenum">
              <a:rPr lang="en-US" sz="1800" b="0" u="none" strike="noStrike">
                <a:solidFill>
                  <a:schemeClr val="dk1"/>
                </a:solidFill>
                <a:effectLst/>
                <a:uFillTx/>
                <a:latin typeface="+mn-lt"/>
                <a:ea typeface="+mn-ea"/>
              </a:rPr>
              <a:t>5</a:t>
            </a:fld>
            <a:endParaRPr lang="en-US"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noRot="1" noChangeAspect="1"/>
          </p:cNvSpPr>
          <p:nvPr>
            <p:ph type="sldImg"/>
          </p:nvPr>
        </p:nvSpPr>
        <p:spPr>
          <a:xfrm>
            <a:off x="0" y="0"/>
            <a:ext cx="0" cy="0"/>
          </a:xfrm>
          <a:prstGeom prst="rect">
            <a:avLst/>
          </a:prstGeom>
          <a:ln w="0">
            <a:noFill/>
          </a:ln>
        </p:spPr>
      </p:sp>
      <p:sp>
        <p:nvSpPr>
          <p:cNvPr id="221"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22" name="PlaceHolder 3"/>
          <p:cNvSpPr>
            <a:spLocks noGrp="1"/>
          </p:cNvSpPr>
          <p:nvPr>
            <p:ph type="sldNum" idx="9"/>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3918169C-931E-469B-8644-08E84B6F19B3}" type="slidenum">
              <a:rPr lang="en-US" sz="1800" b="0" u="none" strike="noStrike">
                <a:solidFill>
                  <a:schemeClr val="dk1"/>
                </a:solidFill>
                <a:effectLst/>
                <a:uFillTx/>
                <a:latin typeface="+mn-lt"/>
                <a:ea typeface="+mn-ea"/>
              </a:rPr>
              <a:t>6</a:t>
            </a:fld>
            <a:endParaRPr lang="en-US"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noRot="1" noChangeAspect="1"/>
          </p:cNvSpPr>
          <p:nvPr>
            <p:ph type="sldImg"/>
          </p:nvPr>
        </p:nvSpPr>
        <p:spPr>
          <a:xfrm>
            <a:off x="0" y="0"/>
            <a:ext cx="0" cy="0"/>
          </a:xfrm>
          <a:prstGeom prst="rect">
            <a:avLst/>
          </a:prstGeom>
          <a:ln w="0">
            <a:noFill/>
          </a:ln>
        </p:spPr>
      </p:sp>
      <p:sp>
        <p:nvSpPr>
          <p:cNvPr id="224"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25" name="PlaceHolder 3"/>
          <p:cNvSpPr>
            <a:spLocks noGrp="1"/>
          </p:cNvSpPr>
          <p:nvPr>
            <p:ph type="sldNum" idx="10"/>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D0782CBE-93C8-44F3-9682-7E2CEA4778AD}" type="slidenum">
              <a:rPr lang="en-US" sz="1800" b="0" u="none" strike="noStrike">
                <a:solidFill>
                  <a:schemeClr val="dk1"/>
                </a:solidFill>
                <a:effectLst/>
                <a:uFillTx/>
                <a:latin typeface="+mn-lt"/>
                <a:ea typeface="+mn-ea"/>
              </a:rPr>
              <a:t>7</a:t>
            </a:fld>
            <a:endParaRPr lang="en-US"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noRot="1" noChangeAspect="1"/>
          </p:cNvSpPr>
          <p:nvPr>
            <p:ph type="sldImg"/>
          </p:nvPr>
        </p:nvSpPr>
        <p:spPr>
          <a:xfrm>
            <a:off x="0" y="0"/>
            <a:ext cx="0" cy="0"/>
          </a:xfrm>
          <a:prstGeom prst="rect">
            <a:avLst/>
          </a:prstGeom>
          <a:ln w="0">
            <a:noFill/>
          </a:ln>
        </p:spPr>
      </p:sp>
      <p:sp>
        <p:nvSpPr>
          <p:cNvPr id="227"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28" name="PlaceHolder 3"/>
          <p:cNvSpPr>
            <a:spLocks noGrp="1"/>
          </p:cNvSpPr>
          <p:nvPr>
            <p:ph type="sldNum" idx="11"/>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9CBB851C-2643-4F7E-9142-FB8121F28F22}" type="slidenum">
              <a:rPr lang="en-US" sz="1800" b="0" u="none" strike="noStrike">
                <a:solidFill>
                  <a:schemeClr val="dk1"/>
                </a:solidFill>
                <a:effectLst/>
                <a:uFillTx/>
                <a:latin typeface="+mn-lt"/>
                <a:ea typeface="+mn-ea"/>
              </a:rPr>
              <a:t>8</a:t>
            </a:fld>
            <a:endParaRPr lang="en-US"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0" y="0"/>
            <a:ext cx="0" cy="0"/>
          </a:xfrm>
          <a:prstGeom prst="rect">
            <a:avLst/>
          </a:prstGeom>
          <a:ln w="0">
            <a:noFill/>
          </a:ln>
        </p:spPr>
      </p:sp>
      <p:sp>
        <p:nvSpPr>
          <p:cNvPr id="230"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31" name="PlaceHolder 3"/>
          <p:cNvSpPr>
            <a:spLocks noGrp="1"/>
          </p:cNvSpPr>
          <p:nvPr>
            <p:ph type="sldNum" idx="12"/>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CAA1B112-919C-4508-80CF-C79C8030C028}" type="slidenum">
              <a:rPr lang="en-US" sz="1800" b="0" u="none" strike="noStrike">
                <a:solidFill>
                  <a:schemeClr val="dk1"/>
                </a:solidFill>
                <a:effectLst/>
                <a:uFillTx/>
                <a:latin typeface="+mn-lt"/>
                <a:ea typeface="+mn-ea"/>
              </a:rPr>
              <a:t>9</a:t>
            </a:fld>
            <a:endParaRPr lang="en-US" sz="18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noRot="1" noChangeAspect="1"/>
          </p:cNvSpPr>
          <p:nvPr>
            <p:ph type="sldImg"/>
          </p:nvPr>
        </p:nvSpPr>
        <p:spPr>
          <a:xfrm>
            <a:off x="0" y="0"/>
            <a:ext cx="0" cy="0"/>
          </a:xfrm>
          <a:prstGeom prst="rect">
            <a:avLst/>
          </a:prstGeom>
          <a:ln w="0">
            <a:noFill/>
          </a:ln>
        </p:spPr>
      </p:sp>
      <p:sp>
        <p:nvSpPr>
          <p:cNvPr id="233"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34" name="PlaceHolder 3"/>
          <p:cNvSpPr>
            <a:spLocks noGrp="1"/>
          </p:cNvSpPr>
          <p:nvPr>
            <p:ph type="sldNum" idx="13"/>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A2BE21F6-8D43-489F-B34A-2E2E372BBCA3}" type="slidenum">
              <a:rPr lang="en-US" sz="1800" b="0" u="none" strike="noStrike">
                <a:solidFill>
                  <a:schemeClr val="dk1"/>
                </a:solidFill>
                <a:effectLst/>
                <a:uFillTx/>
                <a:latin typeface="+mn-lt"/>
                <a:ea typeface="+mn-ea"/>
              </a:rPr>
              <a:t>10</a:t>
            </a:fld>
            <a:endParaRPr lang="en-US"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noRot="1" noChangeAspect="1"/>
          </p:cNvSpPr>
          <p:nvPr>
            <p:ph type="sldImg"/>
          </p:nvPr>
        </p:nvSpPr>
        <p:spPr>
          <a:xfrm>
            <a:off x="0" y="0"/>
            <a:ext cx="0" cy="0"/>
          </a:xfrm>
          <a:prstGeom prst="rect">
            <a:avLst/>
          </a:prstGeom>
          <a:ln w="0">
            <a:noFill/>
          </a:ln>
        </p:spPr>
      </p:sp>
      <p:sp>
        <p:nvSpPr>
          <p:cNvPr id="236"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37" name="PlaceHolder 3"/>
          <p:cNvSpPr>
            <a:spLocks noGrp="1"/>
          </p:cNvSpPr>
          <p:nvPr>
            <p:ph type="sldNum" idx="14"/>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271C2D7B-BDD9-4230-A94D-E2CD0D2C3B3A}" type="slidenum">
              <a:rPr lang="en-US" sz="1800" b="0" u="none" strike="noStrike">
                <a:solidFill>
                  <a:schemeClr val="dk1"/>
                </a:solidFill>
                <a:effectLst/>
                <a:uFillTx/>
                <a:latin typeface="+mn-lt"/>
                <a:ea typeface="+mn-ea"/>
              </a:rPr>
              <a:t>11</a:t>
            </a:fld>
            <a:endParaRPr lang="en-US" sz="18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noRot="1" noChangeAspect="1"/>
          </p:cNvSpPr>
          <p:nvPr>
            <p:ph type="sldImg"/>
          </p:nvPr>
        </p:nvSpPr>
        <p:spPr>
          <a:xfrm>
            <a:off x="0" y="0"/>
            <a:ext cx="0" cy="0"/>
          </a:xfrm>
          <a:prstGeom prst="rect">
            <a:avLst/>
          </a:prstGeom>
          <a:ln w="0">
            <a:noFill/>
          </a:ln>
        </p:spPr>
      </p:sp>
      <p:sp>
        <p:nvSpPr>
          <p:cNvPr id="239"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40" name="PlaceHolder 3"/>
          <p:cNvSpPr>
            <a:spLocks noGrp="1"/>
          </p:cNvSpPr>
          <p:nvPr>
            <p:ph type="sldNum" idx="15"/>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C96CEC34-63AA-4C65-BA51-F139D72C0159}" type="slidenum">
              <a:rPr lang="en-US" sz="1800" b="0" u="none" strike="noStrike">
                <a:solidFill>
                  <a:schemeClr val="dk1"/>
                </a:solidFill>
                <a:effectLst/>
                <a:uFillTx/>
                <a:latin typeface="+mn-lt"/>
                <a:ea typeface="+mn-ea"/>
              </a:rPr>
              <a:t>12</a:t>
            </a:fld>
            <a:endParaRPr lang="en-US" sz="18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noRot="1" noChangeAspect="1"/>
          </p:cNvSpPr>
          <p:nvPr>
            <p:ph type="sldImg"/>
          </p:nvPr>
        </p:nvSpPr>
        <p:spPr>
          <a:xfrm>
            <a:off x="-360" y="-360"/>
            <a:ext cx="720" cy="720"/>
          </a:xfrm>
          <a:prstGeom prst="rect">
            <a:avLst/>
          </a:prstGeom>
          <a:ln w="0">
            <a:noFill/>
          </a:ln>
        </p:spPr>
      </p:sp>
      <p:sp>
        <p:nvSpPr>
          <p:cNvPr id="242"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43" name="PlaceHolder 3"/>
          <p:cNvSpPr>
            <a:spLocks noGrp="1"/>
          </p:cNvSpPr>
          <p:nvPr>
            <p:ph type="sldNum" idx="16"/>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1842106A-D990-4393-BA11-CEDB1055F5E7}" type="slidenum">
              <a:rPr lang="en-US" sz="1800" b="0" u="none" strike="noStrike">
                <a:solidFill>
                  <a:schemeClr val="dk1"/>
                </a:solidFill>
                <a:effectLst/>
                <a:uFillTx/>
                <a:latin typeface="+mn-lt"/>
                <a:ea typeface="+mn-ea"/>
              </a:rPr>
              <a:t>13</a:t>
            </a:fld>
            <a:endParaRPr lang="en-US" sz="18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360" y="-360"/>
            <a:ext cx="720" cy="720"/>
          </a:xfrm>
          <a:prstGeom prst="rect">
            <a:avLst/>
          </a:prstGeom>
          <a:ln w="0">
            <a:noFill/>
          </a:ln>
        </p:spPr>
      </p:sp>
      <p:sp>
        <p:nvSpPr>
          <p:cNvPr id="245"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46" name="PlaceHolder 3"/>
          <p:cNvSpPr>
            <a:spLocks noGrp="1"/>
          </p:cNvSpPr>
          <p:nvPr>
            <p:ph type="sldNum" idx="17"/>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C6254A06-7F0F-4EC1-80BE-8C1BF48280B5}" type="slidenum">
              <a:rPr lang="en-US" sz="1800" b="0" u="none" strike="noStrike">
                <a:solidFill>
                  <a:schemeClr val="dk1"/>
                </a:solidFill>
                <a:effectLst/>
                <a:uFillTx/>
                <a:latin typeface="+mn-lt"/>
                <a:ea typeface="+mn-ea"/>
              </a:rPr>
              <a:t>15</a:t>
            </a:fld>
            <a:endParaRPr lang="en-US" sz="18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0" y="0"/>
            <a:ext cx="0" cy="0"/>
          </a:xfrm>
          <a:prstGeom prst="rect">
            <a:avLst/>
          </a:prstGeom>
          <a:ln w="0">
            <a:noFill/>
          </a:ln>
        </p:spPr>
      </p:sp>
      <p:sp>
        <p:nvSpPr>
          <p:cNvPr id="248"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49" name="PlaceHolder 3"/>
          <p:cNvSpPr>
            <a:spLocks noGrp="1"/>
          </p:cNvSpPr>
          <p:nvPr>
            <p:ph type="sldNum" idx="18"/>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E7ECE8B2-922C-44D9-AB87-3782C6DE72AE}" type="slidenum">
              <a:rPr lang="en-US" sz="1800" b="0" u="none" strike="noStrike">
                <a:solidFill>
                  <a:schemeClr val="dk1"/>
                </a:solidFill>
                <a:effectLst/>
                <a:uFillTx/>
                <a:latin typeface="+mn-lt"/>
                <a:ea typeface="+mn-ea"/>
              </a:rPr>
              <a:t>19</a:t>
            </a:fld>
            <a:endParaRPr lang="en-US" sz="18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noRot="1" noChangeAspect="1"/>
          </p:cNvSpPr>
          <p:nvPr>
            <p:ph type="sldImg"/>
          </p:nvPr>
        </p:nvSpPr>
        <p:spPr>
          <a:xfrm>
            <a:off x="0" y="0"/>
            <a:ext cx="0" cy="0"/>
          </a:xfrm>
          <a:prstGeom prst="rect">
            <a:avLst/>
          </a:prstGeom>
          <a:ln w="0">
            <a:noFill/>
          </a:ln>
        </p:spPr>
      </p:sp>
      <p:sp>
        <p:nvSpPr>
          <p:cNvPr id="251"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52" name="PlaceHolder 3"/>
          <p:cNvSpPr>
            <a:spLocks noGrp="1"/>
          </p:cNvSpPr>
          <p:nvPr>
            <p:ph type="sldNum" idx="19"/>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F12C3C37-C552-4163-AE0A-2AF3F2F80797}" type="slidenum">
              <a:rPr lang="en-US" sz="1800" b="0" u="none" strike="noStrike">
                <a:solidFill>
                  <a:schemeClr val="dk1"/>
                </a:solidFill>
                <a:effectLst/>
                <a:uFillTx/>
                <a:latin typeface="+mn-lt"/>
                <a:ea typeface="+mn-ea"/>
              </a:rPr>
              <a:t>22</a:t>
            </a:fld>
            <a:endParaRPr lang="en-US" sz="18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0" y="0"/>
            <a:ext cx="0" cy="0"/>
          </a:xfrm>
          <a:prstGeom prst="rect">
            <a:avLst/>
          </a:prstGeom>
          <a:ln w="0">
            <a:noFill/>
          </a:ln>
        </p:spPr>
      </p:sp>
      <p:sp>
        <p:nvSpPr>
          <p:cNvPr id="254"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55" name="PlaceHolder 3"/>
          <p:cNvSpPr>
            <a:spLocks noGrp="1"/>
          </p:cNvSpPr>
          <p:nvPr>
            <p:ph type="sldNum" idx="20"/>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91397DFE-50FA-4CDF-8400-F7074B02C71A}" type="slidenum">
              <a:rPr lang="en-US" sz="1800" b="0" u="none" strike="noStrike">
                <a:solidFill>
                  <a:schemeClr val="dk1"/>
                </a:solidFill>
                <a:effectLst/>
                <a:uFillTx/>
                <a:latin typeface="+mn-lt"/>
                <a:ea typeface="+mn-ea"/>
              </a:rPr>
              <a:t>23</a:t>
            </a:fld>
            <a:endParaRPr lang="en-US" sz="18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noRot="1" noChangeAspect="1"/>
          </p:cNvSpPr>
          <p:nvPr>
            <p:ph type="sldImg"/>
          </p:nvPr>
        </p:nvSpPr>
        <p:spPr>
          <a:xfrm>
            <a:off x="0" y="0"/>
            <a:ext cx="0" cy="0"/>
          </a:xfrm>
          <a:prstGeom prst="rect">
            <a:avLst/>
          </a:prstGeom>
          <a:ln w="0">
            <a:noFill/>
          </a:ln>
        </p:spPr>
      </p:sp>
      <p:sp>
        <p:nvSpPr>
          <p:cNvPr id="257" name="PlaceHolder 2"/>
          <p:cNvSpPr>
            <a:spLocks noGrp="1"/>
          </p:cNvSpPr>
          <p:nvPr>
            <p:ph type="body"/>
          </p:nvPr>
        </p:nvSpPr>
        <p:spPr>
          <a:xfrm>
            <a:off x="0" y="0"/>
            <a:ext cx="360" cy="360"/>
          </a:xfrm>
          <a:prstGeom prst="rect">
            <a:avLst/>
          </a:prstGeom>
          <a:noFill/>
          <a:ln w="0">
            <a:noFill/>
          </a:ln>
        </p:spPr>
        <p:txBody>
          <a:bodyPr lIns="90000" tIns="-44640" rIns="90000" bIns="-44640" anchor="t">
            <a:noAutofit/>
          </a:bodyPr>
          <a:lstStyle/>
          <a:p>
            <a:pPr indent="0">
              <a:buNone/>
            </a:pPr>
            <a:endParaRPr lang="en-US" sz="1800" b="0" u="none" strike="noStrike">
              <a:solidFill>
                <a:srgbClr val="000000"/>
              </a:solidFill>
              <a:effectLst/>
              <a:uFillTx/>
              <a:latin typeface="Arial"/>
            </a:endParaRPr>
          </a:p>
        </p:txBody>
      </p:sp>
      <p:sp>
        <p:nvSpPr>
          <p:cNvPr id="258" name="PlaceHolder 3"/>
          <p:cNvSpPr>
            <a:spLocks noGrp="1"/>
          </p:cNvSpPr>
          <p:nvPr>
            <p:ph type="sldNum" idx="21"/>
          </p:nvPr>
        </p:nvSpPr>
        <p:spPr>
          <a:xfrm>
            <a:off x="0" y="0"/>
            <a:ext cx="360" cy="360"/>
          </a:xfrm>
          <a:prstGeom prst="rect">
            <a:avLst/>
          </a:prstGeom>
          <a:noFill/>
          <a:ln w="0">
            <a:noFill/>
          </a:ln>
        </p:spPr>
        <p:txBody>
          <a:bodyPr lIns="90000" tIns="-44640" rIns="90000" bIns="-44640" anchor="t">
            <a:noAutofit/>
          </a:bodyPr>
          <a:lstStyle>
            <a:lvl1pPr indent="0" defTabSz="914400">
              <a:lnSpc>
                <a:spcPct val="100000"/>
              </a:lnSpc>
              <a:buNone/>
              <a:defRPr lang="en-US" sz="1800" b="0" u="none" strike="noStrike">
                <a:solidFill>
                  <a:schemeClr val="dk1"/>
                </a:solidFill>
                <a:effectLst/>
                <a:uFillTx/>
                <a:latin typeface="+mn-lt"/>
                <a:ea typeface="+mn-ea"/>
              </a:defRPr>
            </a:lvl1pPr>
          </a:lstStyle>
          <a:p>
            <a:pPr indent="0" defTabSz="914400">
              <a:lnSpc>
                <a:spcPct val="100000"/>
              </a:lnSpc>
              <a:buNone/>
            </a:pPr>
            <a:fld id="{E19508CC-5CF1-4F71-85D5-E497F82F1B31}" type="slidenum">
              <a:rPr lang="en-US" sz="1800" b="0" u="none" strike="noStrike">
                <a:solidFill>
                  <a:schemeClr val="dk1"/>
                </a:solidFill>
                <a:effectLst/>
                <a:uFillTx/>
                <a:latin typeface="+mn-lt"/>
                <a:ea typeface="+mn-ea"/>
              </a:rPr>
              <a:t>24</a:t>
            </a:fld>
            <a:endParaRPr lang="en-US"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Calibri"/>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unistra.fr/ilopezmata/rigm" TargetMode="External"/><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3"/>
          <p:cNvSpPr/>
          <p:nvPr/>
        </p:nvSpPr>
        <p:spPr>
          <a:xfrm>
            <a:off x="0" y="609480"/>
            <a:ext cx="9120960" cy="20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900" b="1" u="none" strike="noStrike" spc="451">
                <a:solidFill>
                  <a:schemeClr val="accent1">
                    <a:lumMod val="50000"/>
                  </a:schemeClr>
                </a:solidFill>
                <a:effectLst/>
                <a:uFillTx/>
                <a:latin typeface="Calibri"/>
                <a:ea typeface="Calibri"/>
              </a:rPr>
              <a:t>LABORATORY NOTEBOOK  /  2030 EXPERIMENTS</a:t>
            </a:r>
            <a:endParaRPr lang="en-US" sz="900" b="0" u="none" strike="noStrike">
              <a:solidFill>
                <a:srgbClr val="000000"/>
              </a:solidFill>
              <a:effectLst/>
              <a:uFillTx/>
              <a:latin typeface="Arial"/>
            </a:endParaRPr>
          </a:p>
        </p:txBody>
      </p:sp>
      <p:sp>
        <p:nvSpPr>
          <p:cNvPr id="13" name="Text 4"/>
          <p:cNvSpPr/>
          <p:nvPr/>
        </p:nvSpPr>
        <p:spPr>
          <a:xfrm>
            <a:off x="157320" y="2080368"/>
            <a:ext cx="8783640" cy="65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en-US" sz="2400" b="1" u="none" strike="noStrike" dirty="0">
                <a:solidFill>
                  <a:schemeClr val="accent1">
                    <a:lumMod val="50000"/>
                  </a:schemeClr>
                </a:solidFill>
                <a:effectLst/>
                <a:uFillTx/>
                <a:latin typeface="Calibri"/>
                <a:ea typeface="Calibri"/>
              </a:rPr>
              <a:t>Automated IGM Analysis of</a:t>
            </a:r>
            <a:endParaRPr lang="en-US" sz="2400" b="0" u="none" strike="noStrike" dirty="0">
              <a:solidFill>
                <a:srgbClr val="000000"/>
              </a:solidFill>
              <a:effectLst/>
              <a:uFillTx/>
              <a:latin typeface="Arial"/>
            </a:endParaRPr>
          </a:p>
          <a:p>
            <a:pPr algn="ctr" defTabSz="914400">
              <a:lnSpc>
                <a:spcPct val="100000"/>
              </a:lnSpc>
            </a:pPr>
            <a:r>
              <a:rPr lang="en-US" sz="2400" b="1" u="none" strike="noStrike" dirty="0">
                <a:solidFill>
                  <a:schemeClr val="accent1">
                    <a:lumMod val="50000"/>
                  </a:schemeClr>
                </a:solidFill>
                <a:effectLst/>
                <a:uFillTx/>
                <a:latin typeface="Calibri"/>
                <a:ea typeface="Calibri"/>
              </a:rPr>
              <a:t>Reaction Mechanism Pathways</a:t>
            </a:r>
            <a:endParaRPr lang="en-US" sz="2400" b="0" u="none" strike="noStrike" dirty="0">
              <a:solidFill>
                <a:srgbClr val="000000"/>
              </a:solidFill>
              <a:effectLst/>
              <a:uFillTx/>
              <a:latin typeface="Arial"/>
            </a:endParaRPr>
          </a:p>
        </p:txBody>
      </p:sp>
      <p:grpSp>
        <p:nvGrpSpPr>
          <p:cNvPr id="14" name="Group 23"/>
          <p:cNvGrpSpPr/>
          <p:nvPr/>
        </p:nvGrpSpPr>
        <p:grpSpPr>
          <a:xfrm>
            <a:off x="854280" y="3147318"/>
            <a:ext cx="9926928" cy="1816182"/>
            <a:chOff x="-23040" y="3147318"/>
            <a:chExt cx="9926928" cy="1816182"/>
          </a:xfrm>
        </p:grpSpPr>
        <p:sp>
          <p:nvSpPr>
            <p:cNvPr id="16" name="Text 10"/>
            <p:cNvSpPr/>
            <p:nvPr/>
          </p:nvSpPr>
          <p:spPr>
            <a:xfrm>
              <a:off x="2775960" y="3292200"/>
              <a:ext cx="46364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200" b="0" u="none" strike="noStrike">
                <a:solidFill>
                  <a:schemeClr val="dk1"/>
                </a:solidFill>
                <a:effectLst/>
                <a:uFillTx/>
                <a:latin typeface="Calibri"/>
              </a:endParaRPr>
            </a:p>
          </p:txBody>
        </p:sp>
        <p:sp>
          <p:nvSpPr>
            <p:cNvPr id="17" name="Text 11"/>
            <p:cNvSpPr/>
            <p:nvPr/>
          </p:nvSpPr>
          <p:spPr>
            <a:xfrm>
              <a:off x="112740" y="4688820"/>
              <a:ext cx="269748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pPr>
              <a:r>
                <a:rPr lang="en-US" sz="1400" b="1" u="none" strike="noStrike" dirty="0">
                  <a:solidFill>
                    <a:srgbClr val="0B3D91"/>
                  </a:solidFill>
                  <a:effectLst/>
                  <a:uFillTx/>
                  <a:latin typeface="Calibri"/>
                  <a:ea typeface="Calibri"/>
                </a:rPr>
                <a:t>Project</a:t>
              </a:r>
              <a:r>
                <a:rPr lang="en-US" sz="1200" b="1" u="none" strike="noStrike" dirty="0">
                  <a:solidFill>
                    <a:srgbClr val="0B3D91"/>
                  </a:solidFill>
                  <a:effectLst/>
                  <a:uFillTx/>
                  <a:latin typeface="Calibri"/>
                  <a:ea typeface="Calibri"/>
                </a:rPr>
                <a:t> </a:t>
              </a:r>
              <a:r>
                <a:rPr lang="en-US" sz="1050" b="1" u="none" strike="noStrike" dirty="0">
                  <a:solidFill>
                    <a:srgbClr val="0B3D91"/>
                  </a:solidFill>
                  <a:effectLst/>
                  <a:uFillTx/>
                  <a:latin typeface="Calibri"/>
                  <a:ea typeface="Calibri"/>
                </a:rPr>
                <a:t> :</a:t>
              </a:r>
              <a:endParaRPr lang="en-US" sz="1050" b="0" u="none" strike="noStrike" dirty="0">
                <a:solidFill>
                  <a:srgbClr val="000000"/>
                </a:solidFill>
                <a:effectLst/>
                <a:uFillTx/>
                <a:latin typeface="Arial"/>
              </a:endParaRPr>
            </a:p>
          </p:txBody>
        </p:sp>
        <p:sp>
          <p:nvSpPr>
            <p:cNvPr id="18" name="Text 12"/>
            <p:cNvSpPr/>
            <p:nvPr/>
          </p:nvSpPr>
          <p:spPr>
            <a:xfrm>
              <a:off x="2911740" y="4688820"/>
              <a:ext cx="46364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200" b="0" u="none" strike="noStrike" dirty="0">
                  <a:solidFill>
                    <a:srgbClr val="1A1A1A"/>
                  </a:solidFill>
                  <a:effectLst/>
                  <a:uFillTx/>
                  <a:latin typeface="Calibri"/>
                  <a:ea typeface="Calibri"/>
                </a:rPr>
                <a:t>Hackathon 2026– IGM Automation</a:t>
              </a:r>
              <a:endParaRPr lang="en-US" sz="1200" b="0" u="none" strike="noStrike" dirty="0">
                <a:solidFill>
                  <a:srgbClr val="000000"/>
                </a:solidFill>
                <a:effectLst/>
                <a:uFillTx/>
                <a:latin typeface="Arial"/>
              </a:endParaRPr>
            </a:p>
          </p:txBody>
        </p:sp>
        <p:sp>
          <p:nvSpPr>
            <p:cNvPr id="19" name="Text 13"/>
            <p:cNvSpPr/>
            <p:nvPr/>
          </p:nvSpPr>
          <p:spPr>
            <a:xfrm>
              <a:off x="-23040" y="3920760"/>
              <a:ext cx="269748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050" b="0" u="none" strike="noStrike">
                <a:solidFill>
                  <a:schemeClr val="dk1"/>
                </a:solidFill>
                <a:effectLst/>
                <a:uFillTx/>
                <a:latin typeface="Calibri"/>
              </a:endParaRPr>
            </a:p>
          </p:txBody>
        </p:sp>
        <p:sp>
          <p:nvSpPr>
            <p:cNvPr id="20" name="Text 14"/>
            <p:cNvSpPr/>
            <p:nvPr/>
          </p:nvSpPr>
          <p:spPr>
            <a:xfrm>
              <a:off x="2775960" y="3920760"/>
              <a:ext cx="4636440" cy="274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200" b="0" u="none" strike="noStrike">
                <a:solidFill>
                  <a:schemeClr val="dk1"/>
                </a:solidFill>
                <a:effectLst/>
                <a:uFillTx/>
                <a:latin typeface="Calibri"/>
              </a:endParaRPr>
            </a:p>
          </p:txBody>
        </p:sp>
        <p:sp>
          <p:nvSpPr>
            <p:cNvPr id="4" name="Text 12">
              <a:extLst>
                <a:ext uri="{FF2B5EF4-FFF2-40B4-BE49-F238E27FC236}">
                  <a16:creationId xmlns:a16="http://schemas.microsoft.com/office/drawing/2014/main" id="{1385D62E-5741-DA7A-1245-EA219F5B2F74}"/>
                </a:ext>
              </a:extLst>
            </p:cNvPr>
            <p:cNvSpPr/>
            <p:nvPr/>
          </p:nvSpPr>
          <p:spPr>
            <a:xfrm>
              <a:off x="833952" y="3234636"/>
              <a:ext cx="4636440" cy="7341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200" u="sng" dirty="0"/>
                <a:t>Students:</a:t>
              </a:r>
              <a:br>
                <a:rPr lang="en-US" sz="1200" dirty="0"/>
              </a:br>
              <a:r>
                <a:rPr lang="en-US" sz="1200" dirty="0"/>
                <a:t>NOOR Manahil</a:t>
              </a:r>
            </a:p>
            <a:p>
              <a:r>
                <a:rPr lang="en-US" sz="1200" dirty="0"/>
                <a:t>LOPEZ MATA Ivan</a:t>
              </a:r>
            </a:p>
            <a:p>
              <a:r>
                <a:rPr lang="en-US" sz="1200" dirty="0"/>
                <a:t>MOJICA FLORES Randy</a:t>
              </a:r>
            </a:p>
            <a:p>
              <a:r>
                <a:rPr lang="en-US" sz="1200" dirty="0"/>
                <a:t>SPASOVSKA Anja</a:t>
              </a:r>
            </a:p>
            <a:p>
              <a:r>
                <a:rPr lang="en-US" sz="1200" dirty="0"/>
                <a:t>SOROUT Payal</a:t>
              </a:r>
            </a:p>
          </p:txBody>
        </p:sp>
        <p:sp>
          <p:nvSpPr>
            <p:cNvPr id="5" name="Text 12">
              <a:extLst>
                <a:ext uri="{FF2B5EF4-FFF2-40B4-BE49-F238E27FC236}">
                  <a16:creationId xmlns:a16="http://schemas.microsoft.com/office/drawing/2014/main" id="{36EB9C83-6EAE-E1A3-B033-12DDD1B72A3E}"/>
                </a:ext>
              </a:extLst>
            </p:cNvPr>
            <p:cNvSpPr/>
            <p:nvPr/>
          </p:nvSpPr>
          <p:spPr>
            <a:xfrm>
              <a:off x="5267448" y="3147318"/>
              <a:ext cx="4636440" cy="7341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r>
                <a:rPr lang="en-US" sz="1200" u="sng" dirty="0"/>
                <a:t>Supervisor:</a:t>
              </a:r>
            </a:p>
            <a:p>
              <a:r>
                <a:rPr lang="en-US" sz="1200" dirty="0"/>
                <a:t>Dr. Yann </a:t>
              </a:r>
              <a:r>
                <a:rPr lang="en-US" sz="1200" dirty="0" err="1"/>
                <a:t>Cornaton</a:t>
              </a:r>
              <a:endParaRPr lang="en-US" sz="1200" dirty="0"/>
            </a:p>
          </p:txBody>
        </p:sp>
      </p:grpSp>
      <p:sp>
        <p:nvSpPr>
          <p:cNvPr id="21" name="Shape 17"/>
          <p:cNvSpPr/>
          <p:nvPr/>
        </p:nvSpPr>
        <p:spPr>
          <a:xfrm flipV="1">
            <a:off x="-22680" y="4301640"/>
            <a:ext cx="9143640" cy="40680"/>
          </a:xfrm>
          <a:prstGeom prst="line">
            <a:avLst/>
          </a:prstGeom>
          <a:ln w="15840">
            <a:solidFill>
              <a:srgbClr val="0B3D91"/>
            </a:solidFill>
            <a:prstDash val="lgDashDotDot"/>
            <a:round/>
          </a:ln>
        </p:spPr>
        <p:style>
          <a:lnRef idx="0">
            <a:scrgbClr r="0" g="0" b="0"/>
          </a:lnRef>
          <a:fillRef idx="0">
            <a:scrgbClr r="0" g="0" b="0"/>
          </a:fillRef>
          <a:effectRef idx="0">
            <a:scrgbClr r="0" g="0" b="0"/>
          </a:effectRef>
          <a:fontRef idx="minor"/>
        </p:style>
        <p:txBody>
          <a:bodyPr lIns="90000" tIns="-4320" rIns="90000" bIns="-4320" anchor="t">
            <a:noAutofit/>
          </a:bodyPr>
          <a:lstStyle/>
          <a:p>
            <a:endParaRPr lang="en-US" sz="1350" b="0" u="none" strike="noStrike">
              <a:solidFill>
                <a:schemeClr val="dk1"/>
              </a:solidFill>
              <a:effectLst/>
              <a:uFillTx/>
              <a:latin typeface="Calibri"/>
            </a:endParaRPr>
          </a:p>
        </p:txBody>
      </p:sp>
      <p:sp>
        <p:nvSpPr>
          <p:cNvPr id="22" name="Shape 17"/>
          <p:cNvSpPr/>
          <p:nvPr/>
        </p:nvSpPr>
        <p:spPr>
          <a:xfrm flipV="1">
            <a:off x="1028520" y="1026000"/>
            <a:ext cx="7178040" cy="20520"/>
          </a:xfrm>
          <a:prstGeom prst="line">
            <a:avLst/>
          </a:prstGeom>
          <a:ln w="15840">
            <a:solidFill>
              <a:srgbClr val="0B3D91"/>
            </a:solidFill>
            <a:prstDash val="lgDashDotDot"/>
            <a:round/>
          </a:ln>
        </p:spPr>
        <p:style>
          <a:lnRef idx="0">
            <a:scrgbClr r="0" g="0" b="0"/>
          </a:lnRef>
          <a:fillRef idx="0">
            <a:scrgbClr r="0" g="0" b="0"/>
          </a:fillRef>
          <a:effectRef idx="0">
            <a:scrgbClr r="0" g="0" b="0"/>
          </a:effectRef>
          <a:fontRef idx="minor"/>
        </p:style>
        <p:txBody>
          <a:bodyPr lIns="90000" tIns="-24480" rIns="90000" bIns="-24480" anchor="t">
            <a:noAutofit/>
          </a:bodyPr>
          <a:lstStyle/>
          <a:p>
            <a:endParaRPr lang="en-US" sz="1350" b="0" u="none" strike="noStrike">
              <a:solidFill>
                <a:schemeClr val="dk1"/>
              </a:solidFill>
              <a:effectLst/>
              <a:uFillTx/>
              <a:latin typeface="Calibri"/>
            </a:endParaRPr>
          </a:p>
        </p:txBody>
      </p:sp>
      <p:sp>
        <p:nvSpPr>
          <p:cNvPr id="23" name="Shape 0"/>
          <p:cNvSpPr/>
          <p:nvPr/>
        </p:nvSpPr>
        <p:spPr>
          <a:xfrm>
            <a:off x="0" y="0"/>
            <a:ext cx="9143640" cy="1188360"/>
          </a:xfrm>
          <a:prstGeom prst="rect">
            <a:avLst/>
          </a:prstGeom>
          <a:solidFill>
            <a:srgbClr val="1F4E79"/>
          </a:solidFill>
          <a:ln w="12600">
            <a:solidFill>
              <a:srgbClr val="1F4E7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3200" b="1" u="none" strike="noStrike">
              <a:solidFill>
                <a:schemeClr val="lt1"/>
              </a:solidFill>
              <a:effectLst/>
              <a:uFillTx/>
              <a:latin typeface="Calibri"/>
            </a:endParaRPr>
          </a:p>
        </p:txBody>
      </p:sp>
      <p:sp>
        <p:nvSpPr>
          <p:cNvPr id="24" name="Shape 1"/>
          <p:cNvSpPr/>
          <p:nvPr/>
        </p:nvSpPr>
        <p:spPr>
          <a:xfrm>
            <a:off x="-114480" y="560160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25" name="TextBox 7"/>
          <p:cNvSpPr/>
          <p:nvPr/>
        </p:nvSpPr>
        <p:spPr>
          <a:xfrm>
            <a:off x="2400480" y="243360"/>
            <a:ext cx="4571640" cy="121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800" b="1" i="1" u="none" strike="noStrike">
                <a:solidFill>
                  <a:schemeClr val="lt1"/>
                </a:solidFill>
                <a:effectLst/>
                <a:uFillTx/>
                <a:latin typeface="Calibri"/>
              </a:rPr>
              <a:t>Reaction Coordinate &amp; Electron Density Analysis</a:t>
            </a:r>
            <a:endParaRPr lang="en-US" sz="2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2" name="Picture 1" descr="Erasmus Mundus Joint Master - ChEMoinformatics+">
            <a:extLst>
              <a:ext uri="{FF2B5EF4-FFF2-40B4-BE49-F238E27FC236}">
                <a16:creationId xmlns:a16="http://schemas.microsoft.com/office/drawing/2014/main" id="{19DFF183-43A5-6B4F-03DB-7E2EA26FF7E3}"/>
              </a:ext>
            </a:extLst>
          </p:cNvPr>
          <p:cNvPicPr>
            <a:picLocks noChangeAspect="1"/>
          </p:cNvPicPr>
          <p:nvPr/>
        </p:nvPicPr>
        <p:blipFill>
          <a:blip r:embed="rId3"/>
          <a:stretch>
            <a:fillRect/>
          </a:stretch>
        </p:blipFill>
        <p:spPr>
          <a:xfrm>
            <a:off x="3093036" y="1212587"/>
            <a:ext cx="2368980" cy="7338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Outline</a:t>
            </a:r>
            <a:endParaRPr lang="en-US" sz="2800" b="0" u="none" strike="noStrike">
              <a:solidFill>
                <a:srgbClr val="000000"/>
              </a:solidFill>
              <a:effectLst/>
              <a:uFillTx/>
              <a:latin typeface="Arial"/>
            </a:endParaRPr>
          </a:p>
        </p:txBody>
      </p:sp>
      <p:sp>
        <p:nvSpPr>
          <p:cNvPr id="27"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28"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29"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30"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2</a:t>
            </a:r>
            <a:endParaRPr lang="en-US" sz="1000" b="0" u="none" strike="noStrike">
              <a:solidFill>
                <a:srgbClr val="000000"/>
              </a:solidFill>
              <a:effectLst/>
              <a:uFillTx/>
              <a:latin typeface="Arial"/>
            </a:endParaRPr>
          </a:p>
        </p:txBody>
      </p:sp>
      <p:sp>
        <p:nvSpPr>
          <p:cNvPr id="31" name="TextBox 15"/>
          <p:cNvSpPr/>
          <p:nvPr/>
        </p:nvSpPr>
        <p:spPr>
          <a:xfrm>
            <a:off x="2137320" y="1119600"/>
            <a:ext cx="3866400" cy="283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200000"/>
              </a:lnSpc>
            </a:pPr>
            <a:r>
              <a:rPr lang="fr-FR" sz="1800" b="1" u="none" strike="noStrike">
                <a:solidFill>
                  <a:schemeClr val="accent1">
                    <a:lumMod val="75000"/>
                  </a:schemeClr>
                </a:solidFill>
                <a:effectLst/>
                <a:uFillTx/>
                <a:latin typeface="Calibri"/>
              </a:rPr>
              <a:t>1</a:t>
            </a:r>
            <a:r>
              <a:rPr lang="fr-FR" sz="1800" b="0" u="none" strike="noStrike">
                <a:solidFill>
                  <a:schemeClr val="accent1">
                    <a:lumMod val="75000"/>
                  </a:schemeClr>
                </a:solidFill>
                <a:effectLst/>
                <a:uFillTx/>
                <a:latin typeface="Calibri"/>
              </a:rPr>
              <a:t> Introduction &amp; Challenges</a:t>
            </a:r>
            <a:endParaRPr lang="en-US" sz="1800" b="0" u="none" strike="noStrike">
              <a:solidFill>
                <a:srgbClr val="000000"/>
              </a:solidFill>
              <a:effectLst/>
              <a:uFillTx/>
              <a:latin typeface="Arial"/>
            </a:endParaRPr>
          </a:p>
          <a:p>
            <a:pPr defTabSz="914400">
              <a:lnSpc>
                <a:spcPct val="200000"/>
              </a:lnSpc>
            </a:pPr>
            <a:r>
              <a:rPr lang="fr-FR" sz="1800" b="1" u="none" strike="noStrike">
                <a:solidFill>
                  <a:schemeClr val="accent1">
                    <a:lumMod val="75000"/>
                  </a:schemeClr>
                </a:solidFill>
                <a:effectLst/>
                <a:uFillTx/>
                <a:latin typeface="Calibri"/>
              </a:rPr>
              <a:t>2</a:t>
            </a:r>
            <a:r>
              <a:rPr lang="fr-FR" sz="1800" b="0" u="none" strike="noStrike">
                <a:solidFill>
                  <a:schemeClr val="accent1">
                    <a:lumMod val="75000"/>
                  </a:schemeClr>
                </a:solidFill>
                <a:effectLst/>
                <a:uFillTx/>
                <a:latin typeface="Calibri"/>
              </a:rPr>
              <a:t> Theoretical Background</a:t>
            </a:r>
            <a:endParaRPr lang="en-US" sz="1800" b="0" u="none" strike="noStrike">
              <a:solidFill>
                <a:srgbClr val="000000"/>
              </a:solidFill>
              <a:effectLst/>
              <a:uFillTx/>
              <a:latin typeface="Arial"/>
            </a:endParaRPr>
          </a:p>
          <a:p>
            <a:pPr defTabSz="914400">
              <a:lnSpc>
                <a:spcPct val="200000"/>
              </a:lnSpc>
            </a:pPr>
            <a:r>
              <a:rPr lang="fr-FR" sz="1800" b="1" u="none" strike="noStrike">
                <a:solidFill>
                  <a:schemeClr val="accent1">
                    <a:lumMod val="75000"/>
                  </a:schemeClr>
                </a:solidFill>
                <a:effectLst/>
                <a:uFillTx/>
                <a:latin typeface="Calibri"/>
              </a:rPr>
              <a:t>3</a:t>
            </a:r>
            <a:r>
              <a:rPr lang="fr-FR" sz="1800" b="0" u="none" strike="noStrike">
                <a:solidFill>
                  <a:schemeClr val="accent1">
                    <a:lumMod val="75000"/>
                  </a:schemeClr>
                </a:solidFill>
                <a:effectLst/>
                <a:uFillTx/>
                <a:latin typeface="Calibri"/>
              </a:rPr>
              <a:t> Methodology</a:t>
            </a:r>
            <a:endParaRPr lang="en-US" sz="1800" b="0" u="none" strike="noStrike">
              <a:solidFill>
                <a:srgbClr val="000000"/>
              </a:solidFill>
              <a:effectLst/>
              <a:uFillTx/>
              <a:latin typeface="Arial"/>
            </a:endParaRPr>
          </a:p>
          <a:p>
            <a:pPr defTabSz="914400">
              <a:lnSpc>
                <a:spcPct val="200000"/>
              </a:lnSpc>
            </a:pPr>
            <a:r>
              <a:rPr lang="fr-FR" sz="1800" b="1" u="none" strike="noStrike">
                <a:solidFill>
                  <a:schemeClr val="accent1">
                    <a:lumMod val="75000"/>
                  </a:schemeClr>
                </a:solidFill>
                <a:effectLst/>
                <a:uFillTx/>
                <a:latin typeface="Calibri"/>
              </a:rPr>
              <a:t>4</a:t>
            </a:r>
            <a:r>
              <a:rPr lang="fr-FR" sz="1800" b="0" u="none" strike="noStrike">
                <a:solidFill>
                  <a:schemeClr val="accent1">
                    <a:lumMod val="75000"/>
                  </a:schemeClr>
                </a:solidFill>
                <a:effectLst/>
                <a:uFillTx/>
                <a:latin typeface="Calibri"/>
              </a:rPr>
              <a:t> Analysis &amp; Results</a:t>
            </a:r>
            <a:endParaRPr lang="en-US" sz="1800" b="0" u="none" strike="noStrike">
              <a:solidFill>
                <a:srgbClr val="000000"/>
              </a:solidFill>
              <a:effectLst/>
              <a:uFillTx/>
              <a:latin typeface="Arial"/>
            </a:endParaRPr>
          </a:p>
          <a:p>
            <a:pPr defTabSz="914400">
              <a:lnSpc>
                <a:spcPct val="200000"/>
              </a:lnSpc>
            </a:pPr>
            <a:r>
              <a:rPr lang="fr-FR" sz="1800" b="1" u="none" strike="noStrike">
                <a:solidFill>
                  <a:schemeClr val="accent1">
                    <a:lumMod val="75000"/>
                  </a:schemeClr>
                </a:solidFill>
                <a:effectLst/>
                <a:uFillTx/>
                <a:latin typeface="Calibri"/>
              </a:rPr>
              <a:t>5</a:t>
            </a:r>
            <a:r>
              <a:rPr lang="fr-FR" sz="1800" b="0" u="none" strike="noStrike">
                <a:solidFill>
                  <a:schemeClr val="accent1">
                    <a:lumMod val="75000"/>
                  </a:schemeClr>
                </a:solidFill>
                <a:effectLst/>
                <a:uFillTx/>
                <a:latin typeface="Calibri"/>
              </a:rPr>
              <a:t> Conclusion</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ext 0"/>
          <p:cNvSpPr/>
          <p:nvPr/>
        </p:nvSpPr>
        <p:spPr>
          <a:xfrm>
            <a:off x="2653920" y="2430720"/>
            <a:ext cx="4603320" cy="64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400" b="1" u="none" strike="noStrike">
                <a:solidFill>
                  <a:srgbClr val="1F4E79"/>
                </a:solidFill>
                <a:effectLst/>
                <a:uFillTx/>
                <a:latin typeface="Calibri"/>
                <a:ea typeface="Calibri"/>
              </a:rPr>
              <a:t>Introduction</a:t>
            </a:r>
            <a:endParaRPr lang="en-US" sz="5400" b="0" u="none" strike="noStrike">
              <a:solidFill>
                <a:srgbClr val="000000"/>
              </a:solidFill>
              <a:effectLst/>
              <a:uFillTx/>
              <a:latin typeface="Arial"/>
            </a:endParaRPr>
          </a:p>
        </p:txBody>
      </p:sp>
      <p:sp>
        <p:nvSpPr>
          <p:cNvPr id="33"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34"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35"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36"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3</a:t>
            </a:r>
            <a:endParaRPr lang="en-US" sz="10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Why the Reaction Coordinate Matters</a:t>
            </a:r>
            <a:endParaRPr lang="en-US" sz="2800" b="0" u="none" strike="noStrike">
              <a:solidFill>
                <a:srgbClr val="000000"/>
              </a:solidFill>
              <a:effectLst/>
              <a:uFillTx/>
              <a:latin typeface="Arial"/>
            </a:endParaRPr>
          </a:p>
        </p:txBody>
      </p:sp>
      <p:sp>
        <p:nvSpPr>
          <p:cNvPr id="38"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39" name="Text 4"/>
          <p:cNvSpPr/>
          <p:nvPr/>
        </p:nvSpPr>
        <p:spPr>
          <a:xfrm>
            <a:off x="411480" y="1047960"/>
            <a:ext cx="3472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E75B6"/>
                </a:solidFill>
                <a:effectLst/>
                <a:uFillTx/>
                <a:latin typeface="Calibri"/>
                <a:ea typeface="Calibri"/>
              </a:rPr>
              <a:t>What Is the Reaction Coordinate?</a:t>
            </a:r>
            <a:endParaRPr lang="en-US" sz="2000" b="0" u="none" strike="noStrike">
              <a:solidFill>
                <a:srgbClr val="000000"/>
              </a:solidFill>
              <a:effectLst/>
              <a:uFillTx/>
              <a:latin typeface="Arial"/>
            </a:endParaRPr>
          </a:p>
        </p:txBody>
      </p:sp>
      <p:sp>
        <p:nvSpPr>
          <p:cNvPr id="40" name="Text 7"/>
          <p:cNvSpPr/>
          <p:nvPr/>
        </p:nvSpPr>
        <p:spPr>
          <a:xfrm>
            <a:off x="466200" y="2970000"/>
            <a:ext cx="8320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2E75B6"/>
                </a:solidFill>
                <a:effectLst/>
                <a:uFillTx/>
                <a:latin typeface="Calibri"/>
                <a:ea typeface="Calibri"/>
              </a:rPr>
              <a:t>Why the IRC Matters</a:t>
            </a:r>
            <a:endParaRPr lang="en-US" sz="2000" b="0" u="none" strike="noStrike" dirty="0">
              <a:solidFill>
                <a:srgbClr val="000000"/>
              </a:solidFill>
              <a:effectLst/>
              <a:uFillTx/>
              <a:latin typeface="Arial"/>
            </a:endParaRPr>
          </a:p>
        </p:txBody>
      </p:sp>
      <p:sp>
        <p:nvSpPr>
          <p:cNvPr id="41"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42" name="Text 10"/>
          <p:cNvSpPr/>
          <p:nvPr/>
        </p:nvSpPr>
        <p:spPr>
          <a:xfrm>
            <a:off x="1035360" y="3323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p:txBody>
      </p:sp>
      <p:sp>
        <p:nvSpPr>
          <p:cNvPr id="43" name="Text 12"/>
          <p:cNvSpPr/>
          <p:nvPr/>
        </p:nvSpPr>
        <p:spPr>
          <a:xfrm>
            <a:off x="1035360" y="3734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285840" indent="-285840" defTabSz="914400">
              <a:lnSpc>
                <a:spcPct val="100000"/>
              </a:lnSpc>
              <a:buClr>
                <a:srgbClr val="000000"/>
              </a:buClr>
              <a:buFont typeface="Arial"/>
              <a:buChar char="•"/>
            </a:pPr>
            <a:r>
              <a:rPr lang="fr-FR" sz="1400" b="0" u="none" strike="noStrike">
                <a:solidFill>
                  <a:schemeClr val="dk1"/>
                </a:solidFill>
                <a:effectLst/>
                <a:uFillTx/>
                <a:latin typeface="Calibri"/>
              </a:rPr>
              <a:t>Reveals where bonds break and form</a:t>
            </a:r>
            <a:endParaRPr lang="en-US"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Calibri"/>
                <a:ea typeface="Calibri"/>
              </a:rPr>
              <a:t>Identifies the transition state precisely</a:t>
            </a:r>
            <a:endParaRPr lang="en-US"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Calibri"/>
                <a:ea typeface="Calibri"/>
              </a:rPr>
              <a:t>Validates the reaction mechanism</a:t>
            </a:r>
            <a:endParaRPr lang="en-US"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Calibri"/>
                <a:ea typeface="Calibri"/>
              </a:rPr>
              <a:t>Tracks electron redistribution quantitatively</a:t>
            </a:r>
            <a:endParaRPr lang="en-US" sz="14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p:txBody>
      </p:sp>
      <p:sp>
        <p:nvSpPr>
          <p:cNvPr id="44"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45"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4</a:t>
            </a:r>
            <a:endParaRPr lang="en-US" sz="1000" b="0" u="none" strike="noStrike">
              <a:solidFill>
                <a:srgbClr val="000000"/>
              </a:solidFill>
              <a:effectLst/>
              <a:uFillTx/>
              <a:latin typeface="Arial"/>
            </a:endParaRPr>
          </a:p>
        </p:txBody>
      </p:sp>
      <p:sp>
        <p:nvSpPr>
          <p:cNvPr id="46" name="TextBox 22"/>
          <p:cNvSpPr/>
          <p:nvPr/>
        </p:nvSpPr>
        <p:spPr>
          <a:xfrm>
            <a:off x="555840" y="1509120"/>
            <a:ext cx="7899480" cy="82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buClr>
                <a:srgbClr val="4472C4"/>
              </a:buClr>
              <a:buFont typeface="Wingdings" charset="2"/>
              <a:buChar char=""/>
            </a:pPr>
            <a:r>
              <a:rPr lang="en-US" sz="1600" b="0" u="none" strike="noStrike" dirty="0">
                <a:solidFill>
                  <a:schemeClr val="dk1"/>
                </a:solidFill>
                <a:effectLst/>
                <a:uFillTx/>
                <a:latin typeface="Calibri"/>
              </a:rPr>
              <a:t>A path showing how a reaction proceeds from reactants to products</a:t>
            </a:r>
            <a:endParaRPr lang="en-US" sz="1600" b="0" u="none" strike="noStrike" dirty="0">
              <a:solidFill>
                <a:srgbClr val="000000"/>
              </a:solidFill>
              <a:effectLst/>
              <a:uFillTx/>
              <a:latin typeface="Arial"/>
            </a:endParaRPr>
          </a:p>
          <a:p>
            <a:pPr marL="285840" indent="-285840" defTabSz="914400">
              <a:lnSpc>
                <a:spcPct val="100000"/>
              </a:lnSpc>
              <a:buClr>
                <a:srgbClr val="4472C4"/>
              </a:buClr>
              <a:buFont typeface="Wingdings" charset="2"/>
              <a:buChar char=""/>
            </a:pPr>
            <a:r>
              <a:rPr lang="en-US" sz="1600" b="0" u="none" strike="noStrike" dirty="0">
                <a:solidFill>
                  <a:schemeClr val="dk1"/>
                </a:solidFill>
                <a:effectLst/>
                <a:uFillTx/>
                <a:latin typeface="Calibri"/>
              </a:rPr>
              <a:t>The IRC is the lowest-energy path through this landscape</a:t>
            </a:r>
            <a:endParaRPr lang="en-US" sz="1600" b="0" u="none" strike="noStrike" dirty="0">
              <a:solidFill>
                <a:srgbClr val="000000"/>
              </a:solidFill>
              <a:effectLst/>
              <a:uFillTx/>
              <a:latin typeface="Arial"/>
            </a:endParaRPr>
          </a:p>
          <a:p>
            <a:pPr marL="285840" indent="-285840" defTabSz="914400">
              <a:lnSpc>
                <a:spcPct val="100000"/>
              </a:lnSpc>
              <a:buClr>
                <a:srgbClr val="4472C4"/>
              </a:buClr>
              <a:buFont typeface="Wingdings" charset="2"/>
              <a:buChar char=""/>
            </a:pPr>
            <a:r>
              <a:rPr lang="en-US" sz="1600" b="0" u="none" strike="noStrike" dirty="0">
                <a:solidFill>
                  <a:schemeClr val="dk1"/>
                </a:solidFill>
                <a:effectLst/>
                <a:uFillTx/>
                <a:latin typeface="Calibri"/>
              </a:rPr>
              <a:t>Our project analyzes 46 points along this path, each a distinct molecular arrangement</a:t>
            </a:r>
            <a:endParaRPr lang="en-US" sz="16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Flowchart: Terminator 3"/>
          <p:cNvSpPr/>
          <p:nvPr/>
        </p:nvSpPr>
        <p:spPr>
          <a:xfrm>
            <a:off x="2146680" y="3958200"/>
            <a:ext cx="5109840" cy="719280"/>
          </a:xfrm>
          <a:prstGeom prst="flowChartTerminator">
            <a:avLst/>
          </a:prstGeom>
          <a:solidFill>
            <a:srgbClr val="FFFF00"/>
          </a:solidFill>
          <a:ln w="12600">
            <a:solidFill>
              <a:schemeClr val="accent1"/>
            </a:solidFill>
            <a:miter/>
          </a:ln>
          <a:effectLst>
            <a:softEdge rad="31752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48" name="Rectangle: Rounded Corners 28"/>
          <p:cNvSpPr/>
          <p:nvPr/>
        </p:nvSpPr>
        <p:spPr>
          <a:xfrm>
            <a:off x="6103440" y="1718280"/>
            <a:ext cx="2653560" cy="1521720"/>
          </a:xfrm>
          <a:prstGeom prst="roundRect">
            <a:avLst>
              <a:gd name="adj" fmla="val 16667"/>
            </a:avLst>
          </a:prstGeom>
          <a:solidFill>
            <a:schemeClr val="accent1">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49" name="Rectangle: Rounded Corners 27"/>
          <p:cNvSpPr/>
          <p:nvPr/>
        </p:nvSpPr>
        <p:spPr>
          <a:xfrm>
            <a:off x="338040" y="1517040"/>
            <a:ext cx="3722760" cy="1972080"/>
          </a:xfrm>
          <a:prstGeom prst="roundRect">
            <a:avLst>
              <a:gd name="adj" fmla="val 16667"/>
            </a:avLst>
          </a:prstGeom>
          <a:solidFill>
            <a:schemeClr val="accent1">
              <a:lumMod val="20000"/>
              <a:lumOff val="80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50"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dirty="0">
                <a:solidFill>
                  <a:srgbClr val="1F4E79"/>
                </a:solidFill>
                <a:effectLst/>
                <a:uFillTx/>
                <a:latin typeface="Calibri"/>
                <a:ea typeface="Calibri"/>
              </a:rPr>
              <a:t>From Manual Effort to Automation</a:t>
            </a:r>
            <a:endParaRPr lang="en-US" sz="2800" b="0" u="none" strike="noStrike" dirty="0">
              <a:solidFill>
                <a:srgbClr val="000000"/>
              </a:solidFill>
              <a:effectLst/>
              <a:uFillTx/>
              <a:latin typeface="Arial"/>
            </a:endParaRPr>
          </a:p>
        </p:txBody>
      </p:sp>
      <p:sp>
        <p:nvSpPr>
          <p:cNvPr id="51"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52" name="Text 4"/>
          <p:cNvSpPr/>
          <p:nvPr/>
        </p:nvSpPr>
        <p:spPr>
          <a:xfrm>
            <a:off x="411480" y="769320"/>
            <a:ext cx="8320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2E75B6"/>
                </a:solidFill>
                <a:effectLst/>
                <a:uFillTx/>
                <a:latin typeface="Calibri"/>
                <a:ea typeface="Calibri"/>
              </a:rPr>
              <a:t>The Manual Process</a:t>
            </a:r>
            <a:endParaRPr lang="en-US" sz="2000" b="0" u="none" strike="noStrike" dirty="0">
              <a:solidFill>
                <a:srgbClr val="000000"/>
              </a:solidFill>
              <a:effectLst/>
              <a:uFillTx/>
              <a:latin typeface="Arial"/>
            </a:endParaRPr>
          </a:p>
        </p:txBody>
      </p:sp>
      <p:sp>
        <p:nvSpPr>
          <p:cNvPr id="53" name="Text 16"/>
          <p:cNvSpPr/>
          <p:nvPr/>
        </p:nvSpPr>
        <p:spPr>
          <a:xfrm>
            <a:off x="6552360" y="1835280"/>
            <a:ext cx="18309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E75B6"/>
                </a:solidFill>
                <a:effectLst/>
                <a:uFillTx/>
                <a:latin typeface="Calibri"/>
                <a:ea typeface="Calibri"/>
              </a:rPr>
              <a:t>Why It Is a Problem</a:t>
            </a:r>
            <a:endParaRPr lang="en-US" sz="1800" b="0" u="none" strike="noStrike">
              <a:solidFill>
                <a:srgbClr val="000000"/>
              </a:solidFill>
              <a:effectLst/>
              <a:uFillTx/>
              <a:latin typeface="Arial"/>
            </a:endParaRPr>
          </a:p>
        </p:txBody>
      </p:sp>
      <p:sp>
        <p:nvSpPr>
          <p:cNvPr id="54" name="Text 18"/>
          <p:cNvSpPr/>
          <p:nvPr/>
        </p:nvSpPr>
        <p:spPr>
          <a:xfrm>
            <a:off x="5981760" y="2493000"/>
            <a:ext cx="34286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100" b="0" u="none" strike="noStrike">
              <a:solidFill>
                <a:schemeClr val="dk1"/>
              </a:solidFill>
              <a:effectLst/>
              <a:uFillTx/>
              <a:latin typeface="Calibri"/>
            </a:endParaRPr>
          </a:p>
        </p:txBody>
      </p:sp>
      <p:sp>
        <p:nvSpPr>
          <p:cNvPr id="55" name="Text 19"/>
          <p:cNvSpPr/>
          <p:nvPr/>
        </p:nvSpPr>
        <p:spPr>
          <a:xfrm>
            <a:off x="5981760" y="2785680"/>
            <a:ext cx="34286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56" name="Text 23"/>
          <p:cNvSpPr/>
          <p:nvPr/>
        </p:nvSpPr>
        <p:spPr>
          <a:xfrm>
            <a:off x="2623680" y="3833640"/>
            <a:ext cx="4873320" cy="34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dirty="0">
                <a:solidFill>
                  <a:srgbClr val="2E75B6"/>
                </a:solidFill>
                <a:effectLst/>
                <a:uFillTx/>
                <a:latin typeface="Calibri"/>
                <a:ea typeface="Calibri"/>
              </a:rPr>
              <a:t>Automation lets scientists focus on chemistry!</a:t>
            </a:r>
            <a:endParaRPr lang="en-US" sz="2800" b="0" u="none" strike="noStrike" dirty="0">
              <a:solidFill>
                <a:srgbClr val="000000"/>
              </a:solidFill>
              <a:effectLst/>
              <a:uFillTx/>
              <a:latin typeface="Arial"/>
            </a:endParaRPr>
          </a:p>
        </p:txBody>
      </p:sp>
      <p:sp>
        <p:nvSpPr>
          <p:cNvPr id="57" name="Text 25"/>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5</a:t>
            </a:r>
            <a:endParaRPr lang="en-US" sz="1000" b="0" u="none" strike="noStrike">
              <a:solidFill>
                <a:srgbClr val="000000"/>
              </a:solidFill>
              <a:effectLst/>
              <a:uFillTx/>
              <a:latin typeface="Arial"/>
            </a:endParaRPr>
          </a:p>
        </p:txBody>
      </p:sp>
      <p:sp>
        <p:nvSpPr>
          <p:cNvPr id="58" name="TextBox 29"/>
          <p:cNvSpPr/>
          <p:nvPr/>
        </p:nvSpPr>
        <p:spPr>
          <a:xfrm>
            <a:off x="6265440" y="2251080"/>
            <a:ext cx="272664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buClr>
                <a:srgbClr val="1A1A1A"/>
              </a:buClr>
              <a:buFont typeface="Arial"/>
              <a:buChar char="•"/>
            </a:pPr>
            <a:r>
              <a:rPr lang="en-US" sz="1800" b="0" u="none" strike="noStrike" dirty="0">
                <a:solidFill>
                  <a:srgbClr val="1A1A1A"/>
                </a:solidFill>
                <a:effectLst/>
                <a:uFillTx/>
                <a:latin typeface="Calibri"/>
                <a:ea typeface="Calibri"/>
              </a:rPr>
              <a:t>Time-consuming</a:t>
            </a:r>
            <a:endParaRPr lang="en-US" sz="1800" b="0" u="none" strike="noStrike" dirty="0">
              <a:solidFill>
                <a:srgbClr val="000000"/>
              </a:solidFill>
              <a:effectLst/>
              <a:uFillTx/>
              <a:latin typeface="Arial"/>
            </a:endParaRPr>
          </a:p>
          <a:p>
            <a:pPr marL="285840" indent="-285840" defTabSz="914400">
              <a:lnSpc>
                <a:spcPct val="100000"/>
              </a:lnSpc>
              <a:buClr>
                <a:srgbClr val="1A1A1A"/>
              </a:buClr>
              <a:buFont typeface="Arial"/>
              <a:buChar char="•"/>
            </a:pPr>
            <a:r>
              <a:rPr lang="en-US" sz="1800" b="0" u="none" strike="noStrike" dirty="0">
                <a:solidFill>
                  <a:srgbClr val="1A1A1A"/>
                </a:solidFill>
                <a:effectLst/>
                <a:uFillTx/>
                <a:latin typeface="Calibri"/>
                <a:ea typeface="Calibri"/>
              </a:rPr>
              <a:t>Error-prone &amp; inconsistent</a:t>
            </a:r>
            <a:endParaRPr lang="en-US" sz="1800" b="0" u="none" strike="noStrike" dirty="0">
              <a:solidFill>
                <a:srgbClr val="000000"/>
              </a:solidFill>
              <a:effectLst/>
              <a:uFillTx/>
              <a:latin typeface="Arial"/>
            </a:endParaRPr>
          </a:p>
        </p:txBody>
      </p:sp>
      <p:sp>
        <p:nvSpPr>
          <p:cNvPr id="59" name="Text 16"/>
          <p:cNvSpPr/>
          <p:nvPr/>
        </p:nvSpPr>
        <p:spPr>
          <a:xfrm>
            <a:off x="1145520" y="1668960"/>
            <a:ext cx="283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E75B6"/>
                </a:solidFill>
                <a:effectLst/>
                <a:uFillTx/>
                <a:latin typeface="Calibri"/>
                <a:ea typeface="Calibri"/>
              </a:rPr>
              <a:t>Manual Steps</a:t>
            </a:r>
            <a:endParaRPr lang="en-US" sz="1800" b="0" u="none" strike="noStrike">
              <a:solidFill>
                <a:srgbClr val="000000"/>
              </a:solidFill>
              <a:effectLst/>
              <a:uFillTx/>
              <a:latin typeface="Arial"/>
            </a:endParaRPr>
          </a:p>
        </p:txBody>
      </p:sp>
      <p:grpSp>
        <p:nvGrpSpPr>
          <p:cNvPr id="60" name="Group 9"/>
          <p:cNvGrpSpPr/>
          <p:nvPr/>
        </p:nvGrpSpPr>
        <p:grpSpPr>
          <a:xfrm>
            <a:off x="4218840" y="2037240"/>
            <a:ext cx="2093040" cy="2157840"/>
            <a:chOff x="4218840" y="2037240"/>
            <a:chExt cx="2093040" cy="2157840"/>
          </a:xfrm>
        </p:grpSpPr>
        <p:sp>
          <p:nvSpPr>
            <p:cNvPr id="61" name="TextBox 32"/>
            <p:cNvSpPr/>
            <p:nvPr/>
          </p:nvSpPr>
          <p:spPr>
            <a:xfrm>
              <a:off x="4296960" y="2467440"/>
              <a:ext cx="1404360" cy="7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2400" b="1" dirty="0">
                  <a:solidFill>
                    <a:schemeClr val="dk1"/>
                  </a:solidFill>
                  <a:latin typeface="Calibri"/>
                  <a:ea typeface="Calibri"/>
                </a:rPr>
                <a:t>1~3</a:t>
              </a:r>
              <a:r>
                <a:rPr lang="en-US" sz="2400" b="1" u="none" strike="noStrike" dirty="0">
                  <a:solidFill>
                    <a:schemeClr val="dk1"/>
                  </a:solidFill>
                  <a:effectLst/>
                  <a:uFillTx/>
                  <a:latin typeface="Calibri"/>
                  <a:ea typeface="Calibri"/>
                </a:rPr>
                <a:t> min</a:t>
              </a:r>
              <a:endParaRPr lang="en-US" sz="2400" b="0" u="none" strike="noStrike" dirty="0">
                <a:solidFill>
                  <a:srgbClr val="000000"/>
                </a:solidFill>
                <a:effectLst/>
                <a:uFillTx/>
                <a:latin typeface="Arial"/>
              </a:endParaRPr>
            </a:p>
          </p:txBody>
        </p:sp>
        <p:sp>
          <p:nvSpPr>
            <p:cNvPr id="62" name="Rectangle: Rounded Corners 33"/>
            <p:cNvSpPr/>
            <p:nvPr/>
          </p:nvSpPr>
          <p:spPr>
            <a:xfrm>
              <a:off x="4218840" y="2037240"/>
              <a:ext cx="1628280" cy="1383480"/>
            </a:xfrm>
            <a:prstGeom prst="roundRect">
              <a:avLst>
                <a:gd name="adj" fmla="val 16667"/>
              </a:avLst>
            </a:prstGeom>
            <a:noFill/>
            <a:ln w="28440">
              <a:solidFill>
                <a:schemeClr val="accent1"/>
              </a:solidFill>
              <a:prstDash val="dashDot"/>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63" name="TextBox 34"/>
            <p:cNvSpPr/>
            <p:nvPr/>
          </p:nvSpPr>
          <p:spPr>
            <a:xfrm>
              <a:off x="4619880" y="2140560"/>
              <a:ext cx="118008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u="none" strike="noStrike">
                  <a:solidFill>
                    <a:schemeClr val="dk1"/>
                  </a:solidFill>
                  <a:effectLst/>
                  <a:uFillTx/>
                  <a:latin typeface="Calibri"/>
                </a:rPr>
                <a:t>PER POINT (MANUAL)</a:t>
              </a:r>
              <a:endParaRPr lang="en-US" sz="1200" b="0" u="none" strike="noStrike">
                <a:solidFill>
                  <a:srgbClr val="000000"/>
                </a:solidFill>
                <a:effectLst/>
                <a:uFillTx/>
                <a:latin typeface="Arial"/>
              </a:endParaRPr>
            </a:p>
          </p:txBody>
        </p:sp>
        <p:sp>
          <p:nvSpPr>
            <p:cNvPr id="64" name="TextBox 35"/>
            <p:cNvSpPr/>
            <p:nvPr/>
          </p:nvSpPr>
          <p:spPr>
            <a:xfrm>
              <a:off x="4571280" y="3972600"/>
              <a:ext cx="1740600" cy="22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fr-FR" sz="1000" b="1" u="none" strike="noStrike">
                <a:solidFill>
                  <a:schemeClr val="dk1"/>
                </a:solidFill>
                <a:effectLst/>
                <a:uFillTx/>
                <a:latin typeface="Calibri"/>
              </a:endParaRPr>
            </a:p>
          </p:txBody>
        </p:sp>
      </p:grpSp>
      <p:pic>
        <p:nvPicPr>
          <p:cNvPr id="65" name="Graphic 37" descr="Back with solid fill"/>
          <p:cNvPicPr/>
          <p:nvPr/>
        </p:nvPicPr>
        <p:blipFill>
          <a:blip r:embed="rId3"/>
          <a:stretch/>
        </p:blipFill>
        <p:spPr>
          <a:xfrm>
            <a:off x="3857040" y="2069640"/>
            <a:ext cx="914040" cy="914040"/>
          </a:xfrm>
          <a:prstGeom prst="rect">
            <a:avLst/>
          </a:prstGeom>
          <a:noFill/>
          <a:ln w="0">
            <a:noFill/>
          </a:ln>
        </p:spPr>
      </p:pic>
      <p:pic>
        <p:nvPicPr>
          <p:cNvPr id="66" name="Graphic 38" descr="Back with solid fill"/>
          <p:cNvPicPr/>
          <p:nvPr/>
        </p:nvPicPr>
        <p:blipFill>
          <a:blip r:embed="rId3"/>
          <a:stretch/>
        </p:blipFill>
        <p:spPr>
          <a:xfrm rot="10426200">
            <a:off x="5753160" y="2115720"/>
            <a:ext cx="576360" cy="576360"/>
          </a:xfrm>
          <a:prstGeom prst="rect">
            <a:avLst/>
          </a:prstGeom>
          <a:noFill/>
          <a:ln w="0">
            <a:noFill/>
          </a:ln>
        </p:spPr>
      </p:pic>
      <p:sp>
        <p:nvSpPr>
          <p:cNvPr id="67" name="TextBox 7"/>
          <p:cNvSpPr/>
          <p:nvPr/>
        </p:nvSpPr>
        <p:spPr>
          <a:xfrm>
            <a:off x="550080" y="1990080"/>
            <a:ext cx="3299760" cy="144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defTabSz="914400">
              <a:lnSpc>
                <a:spcPct val="100000"/>
              </a:lnSpc>
              <a:buClr>
                <a:srgbClr val="1A1A1A"/>
              </a:buClr>
              <a:buFont typeface="Arial"/>
              <a:buChar char="•"/>
            </a:pPr>
            <a:r>
              <a:rPr lang="en-US" sz="1300" b="0" u="none" strike="noStrike" dirty="0">
                <a:solidFill>
                  <a:srgbClr val="1A1A1A"/>
                </a:solidFill>
                <a:effectLst/>
                <a:uFillTx/>
                <a:latin typeface="Calibri"/>
                <a:ea typeface="Calibri"/>
              </a:rPr>
              <a:t>46 points along the path (02-47)</a:t>
            </a:r>
            <a:endParaRPr lang="en-US" sz="1300" b="0" u="none" strike="noStrike" dirty="0">
              <a:solidFill>
                <a:srgbClr val="000000"/>
              </a:solidFill>
              <a:effectLst/>
              <a:uFillTx/>
              <a:latin typeface="Arial"/>
            </a:endParaRPr>
          </a:p>
          <a:p>
            <a:pPr marL="228600" indent="-228600" defTabSz="914400">
              <a:lnSpc>
                <a:spcPct val="100000"/>
              </a:lnSpc>
              <a:buClr>
                <a:srgbClr val="1A1A1A"/>
              </a:buClr>
              <a:buFont typeface="Arial"/>
              <a:buChar char="•"/>
            </a:pPr>
            <a:r>
              <a:rPr lang="en-US" sz="1300" b="0" u="none" strike="noStrike" dirty="0">
                <a:solidFill>
                  <a:srgbClr val="1A1A1A"/>
                </a:solidFill>
                <a:effectLst/>
                <a:uFillTx/>
                <a:latin typeface="Calibri"/>
                <a:ea typeface="Calibri"/>
              </a:rPr>
              <a:t>Manual: ~1~3 min/point</a:t>
            </a:r>
            <a:endParaRPr lang="en-US" sz="1300" dirty="0">
              <a:solidFill>
                <a:srgbClr val="1A1A1A"/>
              </a:solidFill>
              <a:latin typeface="Calibri"/>
              <a:ea typeface="Calibri"/>
            </a:endParaRPr>
          </a:p>
          <a:p>
            <a:pPr marL="228600" indent="-228600" defTabSz="914400">
              <a:lnSpc>
                <a:spcPct val="100000"/>
              </a:lnSpc>
              <a:buClr>
                <a:srgbClr val="1A1A1A"/>
              </a:buClr>
              <a:buFont typeface="Arial"/>
              <a:buChar char="•"/>
            </a:pPr>
            <a:r>
              <a:rPr lang="en-US" sz="1300" b="0" u="none" strike="noStrike" dirty="0">
                <a:solidFill>
                  <a:srgbClr val="1A1A1A"/>
                </a:solidFill>
                <a:effectLst/>
                <a:uFillTx/>
                <a:latin typeface="Calibri"/>
                <a:ea typeface="Calibri"/>
              </a:rPr>
              <a:t>Automated: &lt;1 sec/point</a:t>
            </a:r>
            <a:endParaRPr lang="en-US" sz="1300" b="0" u="none" strike="noStrike" dirty="0">
              <a:solidFill>
                <a:srgbClr val="000000"/>
              </a:solidFill>
              <a:effectLst/>
              <a:uFillTx/>
              <a:latin typeface="Arial"/>
            </a:endParaRPr>
          </a:p>
          <a:p>
            <a:pPr marL="228600" indent="-228600" defTabSz="914400">
              <a:lnSpc>
                <a:spcPct val="100000"/>
              </a:lnSpc>
              <a:buClr>
                <a:srgbClr val="1A1A1A"/>
              </a:buClr>
              <a:buFont typeface="Arial"/>
              <a:buChar char="•"/>
            </a:pPr>
            <a:r>
              <a:rPr lang="en-US" sz="1300" b="0" u="none" strike="noStrike" dirty="0">
                <a:solidFill>
                  <a:srgbClr val="1A1A1A"/>
                </a:solidFill>
                <a:effectLst/>
                <a:uFillTx/>
                <a:latin typeface="Calibri"/>
                <a:ea typeface="Calibri"/>
              </a:rPr>
              <a:t>Automated total: ~5 min for all 46 points</a:t>
            </a:r>
            <a:endParaRPr lang="en-US" sz="13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Rectangle: Rounded Corners 16"/>
          <p:cNvSpPr/>
          <p:nvPr/>
        </p:nvSpPr>
        <p:spPr>
          <a:xfrm>
            <a:off x="852840" y="1355400"/>
            <a:ext cx="7807680" cy="3073680"/>
          </a:xfrm>
          <a:prstGeom prst="roundRect">
            <a:avLst>
              <a:gd name="adj" fmla="val 16667"/>
            </a:avLst>
          </a:prstGeom>
          <a:gradFill rotWithShape="0">
            <a:gsLst>
              <a:gs pos="0">
                <a:srgbClr val="B1CBE9"/>
              </a:gs>
              <a:gs pos="50000">
                <a:srgbClr val="A2C1E4"/>
              </a:gs>
              <a:gs pos="100000">
                <a:srgbClr val="92B9E3"/>
              </a:gs>
            </a:gsLst>
            <a:lin ang="5400000"/>
          </a:gradFill>
          <a:ln w="6480">
            <a:solidFill>
              <a:schemeClr val="accent5"/>
            </a:solidFill>
            <a:miter/>
          </a:ln>
          <a:effectLst>
            <a:softEdge rad="63504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69"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Project Objectives</a:t>
            </a:r>
            <a:endParaRPr lang="en-US" sz="2800" b="0" u="none" strike="noStrike">
              <a:solidFill>
                <a:srgbClr val="000000"/>
              </a:solidFill>
              <a:effectLst/>
              <a:uFillTx/>
              <a:latin typeface="Arial"/>
            </a:endParaRPr>
          </a:p>
        </p:txBody>
      </p:sp>
      <p:sp>
        <p:nvSpPr>
          <p:cNvPr id="70"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71" name="Text 4"/>
          <p:cNvSpPr/>
          <p:nvPr/>
        </p:nvSpPr>
        <p:spPr>
          <a:xfrm>
            <a:off x="1451160" y="1672920"/>
            <a:ext cx="5557320" cy="79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rgbClr val="1A1A1A"/>
                </a:solidFill>
                <a:effectLst/>
                <a:uFillTx/>
                <a:latin typeface="Calibri"/>
                <a:ea typeface="Calibri"/>
              </a:rPr>
              <a:t>Automate the analysis of Intrinsic Reaction Coordinate (IRC) points using IGM interaction descriptors.</a:t>
            </a:r>
            <a:endParaRPr lang="en-US" sz="1800" b="0" u="none" strike="noStrike">
              <a:solidFill>
                <a:srgbClr val="000000"/>
              </a:solidFill>
              <a:effectLst/>
              <a:uFillTx/>
              <a:latin typeface="Arial"/>
            </a:endParaRPr>
          </a:p>
        </p:txBody>
      </p:sp>
      <p:sp>
        <p:nvSpPr>
          <p:cNvPr id="72" name="Text 8"/>
          <p:cNvSpPr/>
          <p:nvPr/>
        </p:nvSpPr>
        <p:spPr>
          <a:xfrm>
            <a:off x="1451160" y="2432520"/>
            <a:ext cx="61308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tabLst>
                <a:tab pos="0" algn="l"/>
              </a:tabLst>
            </a:pPr>
            <a:r>
              <a:rPr lang="en-US" sz="1800" b="0" u="none" strike="noStrike" dirty="0">
                <a:solidFill>
                  <a:srgbClr val="1A1A1A"/>
                </a:solidFill>
                <a:effectLst/>
                <a:uFillTx/>
                <a:latin typeface="Calibri"/>
                <a:ea typeface="Calibri"/>
              </a:rPr>
              <a:t>Quantify how electron density is shared between atoms along the reaction path</a:t>
            </a:r>
            <a:endParaRPr lang="en-US" sz="1800" b="0" u="none" strike="noStrike" dirty="0">
              <a:solidFill>
                <a:srgbClr val="000000"/>
              </a:solidFill>
              <a:effectLst/>
              <a:uFillTx/>
              <a:latin typeface="Arial"/>
            </a:endParaRPr>
          </a:p>
        </p:txBody>
      </p:sp>
      <p:sp>
        <p:nvSpPr>
          <p:cNvPr id="73" name="Text 10"/>
          <p:cNvSpPr/>
          <p:nvPr/>
        </p:nvSpPr>
        <p:spPr>
          <a:xfrm>
            <a:off x="1451160" y="3008520"/>
            <a:ext cx="639000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tabLst>
                <a:tab pos="0" algn="l"/>
              </a:tabLst>
            </a:pPr>
            <a:r>
              <a:rPr lang="en-US" sz="1800" b="0" u="none" strike="noStrike">
                <a:solidFill>
                  <a:srgbClr val="1A1A1A"/>
                </a:solidFill>
                <a:effectLst/>
                <a:uFillTx/>
                <a:latin typeface="Calibri"/>
                <a:ea typeface="Calibri"/>
              </a:rPr>
              <a:t>Build a scripting pipeline that scales effortlessly from a handful of files to thousands, removing manual bottlenecks.</a:t>
            </a:r>
            <a:endParaRPr lang="en-US" sz="1800" b="0" u="none" strike="noStrike">
              <a:solidFill>
                <a:srgbClr val="000000"/>
              </a:solidFill>
              <a:effectLst/>
              <a:uFillTx/>
              <a:latin typeface="Arial"/>
            </a:endParaRPr>
          </a:p>
        </p:txBody>
      </p:sp>
      <p:sp>
        <p:nvSpPr>
          <p:cNvPr id="74" name="Text 11"/>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6</a:t>
            </a:r>
            <a:endParaRPr lang="en-US" sz="1000" b="0" u="none" strike="noStrike">
              <a:solidFill>
                <a:srgbClr val="000000"/>
              </a:solidFill>
              <a:effectLst/>
              <a:uFillTx/>
              <a:latin typeface="Arial"/>
            </a:endParaRPr>
          </a:p>
        </p:txBody>
      </p:sp>
      <p:pic>
        <p:nvPicPr>
          <p:cNvPr id="75" name="Graphic 13" descr="Bullseye with solid fill"/>
          <p:cNvPicPr/>
          <p:nvPr/>
        </p:nvPicPr>
        <p:blipFill>
          <a:blip r:embed="rId3"/>
          <a:stretch/>
        </p:blipFill>
        <p:spPr>
          <a:xfrm>
            <a:off x="1013040" y="1805400"/>
            <a:ext cx="293040" cy="293040"/>
          </a:xfrm>
          <a:prstGeom prst="rect">
            <a:avLst/>
          </a:prstGeom>
          <a:noFill/>
          <a:ln w="0">
            <a:noFill/>
          </a:ln>
        </p:spPr>
      </p:pic>
      <p:pic>
        <p:nvPicPr>
          <p:cNvPr id="76" name="Graphic 14" descr="Bullseye with solid fill"/>
          <p:cNvPicPr/>
          <p:nvPr/>
        </p:nvPicPr>
        <p:blipFill>
          <a:blip r:embed="rId3"/>
          <a:stretch/>
        </p:blipFill>
        <p:spPr>
          <a:xfrm>
            <a:off x="1009080" y="2510280"/>
            <a:ext cx="293040" cy="293040"/>
          </a:xfrm>
          <a:prstGeom prst="rect">
            <a:avLst/>
          </a:prstGeom>
          <a:noFill/>
          <a:ln w="0">
            <a:noFill/>
          </a:ln>
        </p:spPr>
      </p:pic>
      <p:pic>
        <p:nvPicPr>
          <p:cNvPr id="77" name="Graphic 15" descr="Bullseye with solid fill"/>
          <p:cNvPicPr/>
          <p:nvPr/>
        </p:nvPicPr>
        <p:blipFill>
          <a:blip r:embed="rId3"/>
          <a:stretch/>
        </p:blipFill>
        <p:spPr>
          <a:xfrm>
            <a:off x="1009080" y="2861640"/>
            <a:ext cx="293040" cy="29304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 0"/>
          <p:cNvSpPr/>
          <p:nvPr/>
        </p:nvSpPr>
        <p:spPr>
          <a:xfrm>
            <a:off x="1792080" y="2057040"/>
            <a:ext cx="5353920" cy="11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400" b="1" u="none" strike="noStrike">
                <a:solidFill>
                  <a:srgbClr val="1F4E79"/>
                </a:solidFill>
                <a:effectLst/>
                <a:uFillTx/>
                <a:latin typeface="Calibri"/>
                <a:ea typeface="Calibri"/>
              </a:rPr>
              <a:t>Theoretical Background</a:t>
            </a:r>
            <a:endParaRPr lang="en-US" sz="5400" b="0" u="none" strike="noStrike">
              <a:solidFill>
                <a:srgbClr val="000000"/>
              </a:solidFill>
              <a:effectLst/>
              <a:uFillTx/>
              <a:latin typeface="Arial"/>
            </a:endParaRPr>
          </a:p>
        </p:txBody>
      </p:sp>
      <p:sp>
        <p:nvSpPr>
          <p:cNvPr id="79"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80"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81"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82"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7</a:t>
            </a:r>
            <a:endParaRPr lang="en-US" sz="10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The IGM Concept</a:t>
            </a:r>
            <a:endParaRPr lang="en-US" sz="2800" b="0" u="none" strike="noStrike">
              <a:solidFill>
                <a:srgbClr val="000000"/>
              </a:solidFill>
              <a:effectLst/>
              <a:uFillTx/>
              <a:latin typeface="Arial"/>
            </a:endParaRPr>
          </a:p>
        </p:txBody>
      </p:sp>
      <p:sp>
        <p:nvSpPr>
          <p:cNvPr id="84"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85" name="Text 4"/>
          <p:cNvSpPr/>
          <p:nvPr/>
        </p:nvSpPr>
        <p:spPr>
          <a:xfrm>
            <a:off x="411480" y="780120"/>
            <a:ext cx="799956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dirty="0">
                <a:solidFill>
                  <a:srgbClr val="2E75B6"/>
                </a:solidFill>
                <a:effectLst/>
                <a:uFillTx/>
                <a:latin typeface="Calibri"/>
                <a:ea typeface="Calibri"/>
              </a:rPr>
              <a:t>How can we tell if two atoms are interacting?</a:t>
            </a:r>
            <a:endParaRPr lang="en-US" sz="1800" b="0" u="none" strike="noStrike" dirty="0">
              <a:solidFill>
                <a:srgbClr val="000000"/>
              </a:solidFill>
              <a:effectLst/>
              <a:uFillTx/>
              <a:latin typeface="Arial"/>
            </a:endParaRPr>
          </a:p>
        </p:txBody>
      </p:sp>
      <p:sp>
        <p:nvSpPr>
          <p:cNvPr id="86" name="Text 14"/>
          <p:cNvSpPr/>
          <p:nvPr/>
        </p:nvSpPr>
        <p:spPr>
          <a:xfrm>
            <a:off x="1494360" y="1355040"/>
            <a:ext cx="6270840" cy="2899800"/>
          </a:xfrm>
          <a:prstGeom prst="roundRect">
            <a:avLst>
              <a:gd name="adj" fmla="val 16667"/>
            </a:avLst>
          </a:prstGeom>
          <a:solidFill>
            <a:schemeClr val="accent1">
              <a:lumMod val="12000"/>
              <a:lumOff val="88000"/>
            </a:schemeClr>
          </a:solidFill>
          <a:ln w="0">
            <a:noFill/>
          </a:ln>
        </p:spPr>
        <p:style>
          <a:lnRef idx="0">
            <a:scrgbClr r="0" g="0" b="0"/>
          </a:lnRef>
          <a:fillRef idx="0">
            <a:scrgbClr r="0" g="0" b="0"/>
          </a:fillRef>
          <a:effectRef idx="0">
            <a:scrgbClr r="0" g="0" b="0"/>
          </a:effectRef>
          <a:fontRef idx="minor"/>
        </p:style>
        <p:txBody>
          <a:bodyPr lIns="180000" tIns="119880" rIns="180000" bIns="119880" anchor="ctr">
            <a:noAutofit/>
          </a:bodyPr>
          <a:lstStyle/>
          <a:p>
            <a:pPr marL="285840" indent="-285840" defTabSz="914400">
              <a:lnSpc>
                <a:spcPct val="100000"/>
              </a:lnSpc>
              <a:buClr>
                <a:srgbClr val="1A1A1A"/>
              </a:buClr>
              <a:buFont typeface="Arial"/>
              <a:buChar char="•"/>
            </a:pPr>
            <a:r>
              <a:rPr lang="en-US" sz="1800" b="1" u="none" strike="noStrike" dirty="0">
                <a:solidFill>
                  <a:srgbClr val="1A1A1A"/>
                </a:solidFill>
                <a:effectLst/>
                <a:uFillTx/>
                <a:latin typeface="Calibri"/>
              </a:rPr>
              <a:t>Virtual system (no interaction): </a:t>
            </a:r>
            <a:r>
              <a:rPr lang="en-US" sz="1800" b="0" u="none" strike="noStrike" dirty="0">
                <a:solidFill>
                  <a:srgbClr val="1A1A1A"/>
                </a:solidFill>
                <a:effectLst/>
                <a:uFillTx/>
                <a:latin typeface="Calibri"/>
              </a:rPr>
              <a:t>∇</a:t>
            </a:r>
            <a:r>
              <a:rPr lang="en-US" sz="1800" b="0" u="none" strike="noStrike" dirty="0" err="1">
                <a:solidFill>
                  <a:srgbClr val="1A1A1A"/>
                </a:solidFill>
                <a:effectLst/>
                <a:uFillTx/>
                <a:latin typeface="Calibri"/>
              </a:rPr>
              <a:t>ρ_IGM</a:t>
            </a:r>
            <a:r>
              <a:rPr lang="en-US" sz="1800" b="0" u="none" strike="noStrike" dirty="0">
                <a:solidFill>
                  <a:srgbClr val="1A1A1A"/>
                </a:solidFill>
                <a:effectLst/>
                <a:uFillTx/>
                <a:latin typeface="Calibri"/>
              </a:rPr>
              <a:t> = |∇</a:t>
            </a:r>
            <a:r>
              <a:rPr lang="en-US" sz="1800" b="0" u="none" strike="noStrike" dirty="0" err="1">
                <a:solidFill>
                  <a:srgbClr val="1A1A1A"/>
                </a:solidFill>
                <a:effectLst/>
                <a:uFillTx/>
                <a:latin typeface="Calibri"/>
              </a:rPr>
              <a:t>ρ_A</a:t>
            </a:r>
            <a:r>
              <a:rPr lang="en-US" sz="1800" b="0" u="none" strike="noStrike" dirty="0">
                <a:solidFill>
                  <a:srgbClr val="1A1A1A"/>
                </a:solidFill>
                <a:effectLst/>
                <a:uFillTx/>
                <a:latin typeface="Calibri"/>
              </a:rPr>
              <a:t>| + |∇</a:t>
            </a:r>
            <a:r>
              <a:rPr lang="en-US" sz="1800" b="0" u="none" strike="noStrike" dirty="0" err="1">
                <a:solidFill>
                  <a:srgbClr val="1A1A1A"/>
                </a:solidFill>
                <a:effectLst/>
                <a:uFillTx/>
                <a:latin typeface="Calibri"/>
              </a:rPr>
              <a:t>ρ_B</a:t>
            </a:r>
            <a:r>
              <a:rPr lang="en-US" sz="1800" b="0" u="none" strike="noStrike" dirty="0">
                <a:solidFill>
                  <a:srgbClr val="1A1A1A"/>
                </a:solidFill>
                <a:effectLst/>
                <a:uFillTx/>
                <a:latin typeface="Calibri"/>
              </a:rPr>
              <a:t>|</a:t>
            </a:r>
            <a:endParaRPr lang="en-US" sz="1800" b="0" u="none" strike="noStrike" dirty="0">
              <a:solidFill>
                <a:srgbClr val="000000"/>
              </a:solidFill>
              <a:effectLst/>
              <a:uFillTx/>
              <a:latin typeface="Arial"/>
            </a:endParaRPr>
          </a:p>
          <a:p>
            <a:pPr marL="285840" indent="-285840" defTabSz="914400">
              <a:lnSpc>
                <a:spcPct val="100000"/>
              </a:lnSpc>
              <a:buClr>
                <a:srgbClr val="1A1A1A"/>
              </a:buClr>
              <a:buFont typeface="Arial"/>
              <a:buChar char="•"/>
            </a:pPr>
            <a:r>
              <a:rPr lang="en-US" sz="1800" b="1" u="none" strike="noStrike" dirty="0">
                <a:solidFill>
                  <a:srgbClr val="1A1A1A"/>
                </a:solidFill>
                <a:effectLst/>
                <a:uFillTx/>
                <a:latin typeface="Calibri"/>
              </a:rPr>
              <a:t>Real system (interacting): </a:t>
            </a:r>
            <a:r>
              <a:rPr lang="en-US" sz="1800" b="0" u="none" strike="noStrike" dirty="0">
                <a:solidFill>
                  <a:srgbClr val="1A1A1A"/>
                </a:solidFill>
                <a:effectLst/>
                <a:uFillTx/>
                <a:latin typeface="Calibri"/>
              </a:rPr>
              <a:t>∇</a:t>
            </a:r>
            <a:r>
              <a:rPr lang="en-US" sz="1800" b="0" u="none" strike="noStrike" dirty="0" err="1">
                <a:solidFill>
                  <a:srgbClr val="1A1A1A"/>
                </a:solidFill>
                <a:effectLst/>
                <a:uFillTx/>
                <a:latin typeface="Calibri"/>
              </a:rPr>
              <a:t>ρ_real</a:t>
            </a:r>
            <a:r>
              <a:rPr lang="en-US" sz="1800" b="0" u="none" strike="noStrike" dirty="0">
                <a:solidFill>
                  <a:srgbClr val="1A1A1A"/>
                </a:solidFill>
                <a:effectLst/>
                <a:uFillTx/>
                <a:latin typeface="Calibri"/>
              </a:rPr>
              <a:t> = ∇</a:t>
            </a:r>
            <a:r>
              <a:rPr lang="en-US" sz="1800" b="0" u="none" strike="noStrike" dirty="0" err="1">
                <a:solidFill>
                  <a:srgbClr val="1A1A1A"/>
                </a:solidFill>
                <a:effectLst/>
                <a:uFillTx/>
                <a:latin typeface="Calibri"/>
              </a:rPr>
              <a:t>ρ_A</a:t>
            </a:r>
            <a:r>
              <a:rPr lang="en-US" sz="1800" b="0" u="none" strike="noStrike" dirty="0">
                <a:solidFill>
                  <a:srgbClr val="1A1A1A"/>
                </a:solidFill>
                <a:effectLst/>
                <a:uFillTx/>
                <a:latin typeface="Calibri"/>
              </a:rPr>
              <a:t> + ∇</a:t>
            </a:r>
            <a:r>
              <a:rPr lang="en-US" sz="1800" b="0" u="none" strike="noStrike" dirty="0" err="1">
                <a:solidFill>
                  <a:srgbClr val="1A1A1A"/>
                </a:solidFill>
                <a:effectLst/>
                <a:uFillTx/>
                <a:latin typeface="Calibri"/>
              </a:rPr>
              <a:t>ρ_B</a:t>
            </a:r>
            <a:endParaRPr lang="en-US" sz="1800" b="0" u="none" strike="noStrike" dirty="0">
              <a:solidFill>
                <a:srgbClr val="000000"/>
              </a:solidFill>
              <a:effectLst/>
              <a:uFillTx/>
              <a:latin typeface="Arial"/>
            </a:endParaRPr>
          </a:p>
          <a:p>
            <a:pPr marL="285840" indent="-285840" defTabSz="914400">
              <a:lnSpc>
                <a:spcPct val="100000"/>
              </a:lnSpc>
              <a:buClr>
                <a:srgbClr val="2E75B6"/>
              </a:buClr>
              <a:buFont typeface="Arial"/>
              <a:buChar char="•"/>
            </a:pPr>
            <a:r>
              <a:rPr lang="en-US" sz="1800" b="1" u="none" strike="noStrike" dirty="0">
                <a:solidFill>
                  <a:srgbClr val="2E75B6"/>
                </a:solidFill>
                <a:effectLst/>
                <a:uFillTx/>
                <a:latin typeface="Calibri"/>
              </a:rPr>
              <a:t>The difference = </a:t>
            </a:r>
            <a:r>
              <a:rPr lang="en-US" sz="1800" b="1" u="none" strike="noStrike" dirty="0" err="1">
                <a:solidFill>
                  <a:srgbClr val="2E75B6"/>
                </a:solidFill>
                <a:effectLst/>
                <a:uFillTx/>
                <a:latin typeface="Calibri"/>
              </a:rPr>
              <a:t>δg</a:t>
            </a:r>
            <a:r>
              <a:rPr lang="en-US" sz="1800" b="1" u="none" strike="noStrike" dirty="0">
                <a:solidFill>
                  <a:srgbClr val="2E75B6"/>
                </a:solidFill>
                <a:effectLst/>
                <a:uFillTx/>
                <a:latin typeface="Calibri"/>
              </a:rPr>
              <a:t> (delta-g)</a:t>
            </a:r>
            <a:endParaRPr lang="en-US" sz="1800" b="0" u="none" strike="noStrike" dirty="0">
              <a:solidFill>
                <a:srgbClr val="000000"/>
              </a:solidFill>
              <a:effectLst/>
              <a:uFillTx/>
              <a:latin typeface="Arial"/>
            </a:endParaRPr>
          </a:p>
          <a:p>
            <a:pPr marL="285840" indent="-285840" defTabSz="914400">
              <a:lnSpc>
                <a:spcPct val="100000"/>
              </a:lnSpc>
              <a:buClr>
                <a:srgbClr val="1A1A1A"/>
              </a:buClr>
              <a:buFont typeface="Arial"/>
              <a:buChar char="•"/>
            </a:pPr>
            <a:r>
              <a:rPr lang="en-US" sz="1800" b="0" u="none" strike="noStrike" dirty="0" err="1">
                <a:solidFill>
                  <a:srgbClr val="1A1A1A"/>
                </a:solidFill>
                <a:effectLst/>
                <a:uFillTx/>
                <a:latin typeface="Calibri"/>
              </a:rPr>
              <a:t>δg</a:t>
            </a:r>
            <a:r>
              <a:rPr lang="en-US" sz="1800" b="0" u="none" strike="noStrike" dirty="0">
                <a:solidFill>
                  <a:srgbClr val="1A1A1A"/>
                </a:solidFill>
                <a:effectLst/>
                <a:uFillTx/>
                <a:latin typeface="Calibri"/>
              </a:rPr>
              <a:t> = 0 → no interaction;  </a:t>
            </a:r>
            <a:r>
              <a:rPr lang="en-US" sz="1800" b="0" u="none" strike="noStrike" dirty="0" err="1">
                <a:solidFill>
                  <a:srgbClr val="1A1A1A"/>
                </a:solidFill>
                <a:effectLst/>
                <a:uFillTx/>
                <a:latin typeface="Calibri"/>
              </a:rPr>
              <a:t>δg</a:t>
            </a:r>
            <a:r>
              <a:rPr lang="en-US" sz="1800" b="0" u="none" strike="noStrike" dirty="0">
                <a:solidFill>
                  <a:srgbClr val="1A1A1A"/>
                </a:solidFill>
                <a:effectLst/>
                <a:uFillTx/>
                <a:latin typeface="Calibri"/>
              </a:rPr>
              <a:t> &gt; 0 → interaction exists</a:t>
            </a:r>
            <a:endParaRPr lang="en-US" sz="1800" b="0" u="none" strike="noStrike" dirty="0">
              <a:solidFill>
                <a:srgbClr val="000000"/>
              </a:solidFill>
              <a:effectLst/>
              <a:uFillTx/>
              <a:latin typeface="Arial"/>
            </a:endParaRPr>
          </a:p>
        </p:txBody>
      </p:sp>
      <p:sp>
        <p:nvSpPr>
          <p:cNvPr id="87" name="Text 3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8</a:t>
            </a:r>
            <a:endParaRPr lang="en-US" sz="1000" b="0" u="none" strike="noStrike">
              <a:solidFill>
                <a:srgbClr val="000000"/>
              </a:solidFill>
              <a:effectLst/>
              <a:uFillTx/>
              <a:latin typeface="Arial"/>
            </a:endParaRPr>
          </a:p>
        </p:txBody>
      </p:sp>
      <p:pic>
        <p:nvPicPr>
          <p:cNvPr id="2" name="Picture 1">
            <a:extLst>
              <a:ext uri="{FF2B5EF4-FFF2-40B4-BE49-F238E27FC236}">
                <a16:creationId xmlns:a16="http://schemas.microsoft.com/office/drawing/2014/main" id="{6A3D397F-4F2B-B9D8-5B6D-129C4A0107C9}"/>
              </a:ext>
            </a:extLst>
          </p:cNvPr>
          <p:cNvPicPr>
            <a:picLocks noChangeAspect="1"/>
          </p:cNvPicPr>
          <p:nvPr/>
        </p:nvPicPr>
        <p:blipFill>
          <a:blip r:embed="rId3"/>
          <a:stretch>
            <a:fillRect/>
          </a:stretch>
        </p:blipFill>
        <p:spPr>
          <a:xfrm>
            <a:off x="7649640" y="3611647"/>
            <a:ext cx="1053505" cy="1286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0"/>
          <p:cNvSpPr/>
          <p:nvPr/>
        </p:nvSpPr>
        <p:spPr>
          <a:xfrm>
            <a:off x="1895040" y="2184480"/>
            <a:ext cx="5353920" cy="77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400" b="1" u="none" strike="noStrike">
                <a:solidFill>
                  <a:srgbClr val="1F4E79"/>
                </a:solidFill>
                <a:effectLst/>
                <a:uFillTx/>
                <a:latin typeface="Calibri"/>
                <a:ea typeface="Calibri"/>
              </a:rPr>
              <a:t>IGMPlot</a:t>
            </a:r>
            <a:endParaRPr lang="en-US" sz="5400" b="0" u="none" strike="noStrike">
              <a:solidFill>
                <a:srgbClr val="000000"/>
              </a:solidFill>
              <a:effectLst/>
              <a:uFillTx/>
              <a:latin typeface="Arial"/>
            </a:endParaRPr>
          </a:p>
          <a:p>
            <a:pPr algn="ctr" defTabSz="914400">
              <a:lnSpc>
                <a:spcPct val="100000"/>
              </a:lnSpc>
              <a:tabLst>
                <a:tab pos="0" algn="l"/>
              </a:tabLst>
            </a:pPr>
            <a:r>
              <a:rPr lang="en-US" sz="5400" b="1" u="none" strike="noStrike">
                <a:solidFill>
                  <a:srgbClr val="1F4E79"/>
                </a:solidFill>
                <a:effectLst/>
                <a:uFillTx/>
                <a:latin typeface="Calibri"/>
                <a:ea typeface="Calibri"/>
              </a:rPr>
              <a:t>Methodology</a:t>
            </a:r>
            <a:endParaRPr lang="en-US" sz="5400" b="0" u="none" strike="noStrike">
              <a:solidFill>
                <a:srgbClr val="000000"/>
              </a:solidFill>
              <a:effectLst/>
              <a:uFillTx/>
              <a:latin typeface="Arial"/>
            </a:endParaRPr>
          </a:p>
        </p:txBody>
      </p:sp>
      <p:sp>
        <p:nvSpPr>
          <p:cNvPr id="89"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90"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91"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92"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9</a:t>
            </a:r>
            <a:endParaRPr lang="en-US" sz="1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Rectangle: Rounded Corners 85"/>
          <p:cNvSpPr/>
          <p:nvPr/>
        </p:nvSpPr>
        <p:spPr>
          <a:xfrm>
            <a:off x="6295127" y="2889720"/>
            <a:ext cx="2440080" cy="1586880"/>
          </a:xfrm>
          <a:prstGeom prst="roundRect">
            <a:avLst>
              <a:gd name="adj" fmla="val 16667"/>
            </a:avLst>
          </a:prstGeom>
          <a:solidFill>
            <a:schemeClr val="accent4">
              <a:lumMod val="20000"/>
              <a:lumOff val="80000"/>
            </a:schemeClr>
          </a:solidFill>
          <a:ln w="2844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4" name="Rectangle: Rounded Corners 99"/>
          <p:cNvSpPr/>
          <p:nvPr/>
        </p:nvSpPr>
        <p:spPr>
          <a:xfrm>
            <a:off x="3397680" y="2829240"/>
            <a:ext cx="2440080" cy="1586880"/>
          </a:xfrm>
          <a:prstGeom prst="roundRect">
            <a:avLst>
              <a:gd name="adj" fmla="val 16667"/>
            </a:avLst>
          </a:prstGeom>
          <a:solidFill>
            <a:schemeClr val="accent4">
              <a:lumMod val="20000"/>
              <a:lumOff val="80000"/>
            </a:schemeClr>
          </a:solidFill>
          <a:ln w="2844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5" name="Rectangle: Rounded Corners 106"/>
          <p:cNvSpPr/>
          <p:nvPr/>
        </p:nvSpPr>
        <p:spPr>
          <a:xfrm>
            <a:off x="432941" y="2801160"/>
            <a:ext cx="2440080" cy="1556280"/>
          </a:xfrm>
          <a:prstGeom prst="roundRect">
            <a:avLst>
              <a:gd name="adj" fmla="val 16667"/>
            </a:avLst>
          </a:prstGeom>
          <a:solidFill>
            <a:schemeClr val="accent4">
              <a:lumMod val="20000"/>
              <a:lumOff val="80000"/>
            </a:schemeClr>
          </a:solidFill>
          <a:ln w="2844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6" name="Rectangle: Rounded Corners 69"/>
          <p:cNvSpPr/>
          <p:nvPr/>
        </p:nvSpPr>
        <p:spPr>
          <a:xfrm>
            <a:off x="6235920" y="830880"/>
            <a:ext cx="2440080" cy="1652400"/>
          </a:xfrm>
          <a:prstGeom prst="roundRect">
            <a:avLst>
              <a:gd name="adj" fmla="val 16667"/>
            </a:avLst>
          </a:prstGeom>
          <a:solidFill>
            <a:schemeClr val="accent4">
              <a:lumMod val="20000"/>
              <a:lumOff val="80000"/>
            </a:schemeClr>
          </a:solidFill>
          <a:ln w="2844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7" name="Rectangle: Rounded Corners 63"/>
          <p:cNvSpPr/>
          <p:nvPr/>
        </p:nvSpPr>
        <p:spPr>
          <a:xfrm>
            <a:off x="3341160" y="879120"/>
            <a:ext cx="2440080" cy="1586880"/>
          </a:xfrm>
          <a:prstGeom prst="roundRect">
            <a:avLst>
              <a:gd name="adj" fmla="val 16667"/>
            </a:avLst>
          </a:prstGeom>
          <a:solidFill>
            <a:schemeClr val="accent4">
              <a:lumMod val="20000"/>
              <a:lumOff val="80000"/>
            </a:schemeClr>
          </a:solidFill>
          <a:ln w="2844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8" name="Flowchart: Terminator 59"/>
          <p:cNvSpPr/>
          <p:nvPr/>
        </p:nvSpPr>
        <p:spPr>
          <a:xfrm>
            <a:off x="3299400" y="80352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99" name="Flowchart: Terminator 60"/>
          <p:cNvSpPr/>
          <p:nvPr/>
        </p:nvSpPr>
        <p:spPr>
          <a:xfrm>
            <a:off x="6260207" y="288252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100" name="Flowchart: Terminator 61"/>
          <p:cNvSpPr/>
          <p:nvPr/>
        </p:nvSpPr>
        <p:spPr>
          <a:xfrm>
            <a:off x="375701" y="280152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101" name="Flowchart: Terminator 62"/>
          <p:cNvSpPr/>
          <p:nvPr/>
        </p:nvSpPr>
        <p:spPr>
          <a:xfrm>
            <a:off x="3361320" y="281664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102" name="Flowchart: Terminator 58"/>
          <p:cNvSpPr/>
          <p:nvPr/>
        </p:nvSpPr>
        <p:spPr>
          <a:xfrm>
            <a:off x="6206400" y="80352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103" name="Text 0"/>
          <p:cNvSpPr/>
          <p:nvPr/>
        </p:nvSpPr>
        <p:spPr>
          <a:xfrm>
            <a:off x="411480" y="14508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The Automated Workflow</a:t>
            </a:r>
            <a:endParaRPr lang="en-US" sz="2800" b="0" u="none" strike="noStrike">
              <a:solidFill>
                <a:srgbClr val="000000"/>
              </a:solidFill>
              <a:effectLst/>
              <a:uFillTx/>
              <a:latin typeface="Arial"/>
            </a:endParaRPr>
          </a:p>
        </p:txBody>
      </p:sp>
      <p:sp>
        <p:nvSpPr>
          <p:cNvPr id="104"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05" name="Text 14"/>
          <p:cNvSpPr/>
          <p:nvPr/>
        </p:nvSpPr>
        <p:spPr>
          <a:xfrm>
            <a:off x="8676000" y="496098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dirty="0">
                <a:solidFill>
                  <a:srgbClr val="595959"/>
                </a:solidFill>
                <a:effectLst/>
                <a:uFillTx/>
                <a:latin typeface="Calibri"/>
                <a:ea typeface="Calibri"/>
              </a:rPr>
              <a:t>10</a:t>
            </a:r>
            <a:endParaRPr lang="en-US" sz="1000" b="0" u="none" strike="noStrike" dirty="0">
              <a:solidFill>
                <a:srgbClr val="000000"/>
              </a:solidFill>
              <a:effectLst/>
              <a:uFillTx/>
              <a:latin typeface="Arial"/>
            </a:endParaRPr>
          </a:p>
        </p:txBody>
      </p:sp>
      <p:sp>
        <p:nvSpPr>
          <p:cNvPr id="106" name="TextBox 34"/>
          <p:cNvSpPr/>
          <p:nvPr/>
        </p:nvSpPr>
        <p:spPr>
          <a:xfrm>
            <a:off x="4038840" y="852120"/>
            <a:ext cx="150948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a:solidFill>
                  <a:schemeClr val="dk1"/>
                </a:solidFill>
                <a:effectLst/>
                <a:uFillTx/>
                <a:latin typeface="Calibri"/>
              </a:rPr>
              <a:t>Geometry Parsing</a:t>
            </a:r>
            <a:endParaRPr lang="en-US" sz="1800" b="0" u="none" strike="noStrike">
              <a:solidFill>
                <a:srgbClr val="000000"/>
              </a:solidFill>
              <a:effectLst/>
              <a:uFillTx/>
              <a:latin typeface="Arial"/>
            </a:endParaRPr>
          </a:p>
        </p:txBody>
      </p:sp>
      <p:sp>
        <p:nvSpPr>
          <p:cNvPr id="107" name="TextBox 200"/>
          <p:cNvSpPr/>
          <p:nvPr/>
        </p:nvSpPr>
        <p:spPr>
          <a:xfrm>
            <a:off x="4079880" y="1453320"/>
            <a:ext cx="159948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dirty="0">
                <a:solidFill>
                  <a:srgbClr val="002060"/>
                </a:solidFill>
                <a:effectLst/>
                <a:uFillTx/>
                <a:latin typeface="Calibri"/>
              </a:rPr>
              <a:t>QM optimization at each IRC point</a:t>
            </a:r>
            <a:endParaRPr lang="en-US" sz="1400" b="0" u="none" strike="noStrike" dirty="0">
              <a:solidFill>
                <a:srgbClr val="000000"/>
              </a:solidFill>
              <a:effectLst/>
              <a:uFillTx/>
              <a:latin typeface="Arial"/>
            </a:endParaRPr>
          </a:p>
        </p:txBody>
      </p:sp>
      <p:pic>
        <p:nvPicPr>
          <p:cNvPr id="108" name="Graphic 40" descr="Pie chart with solid fill"/>
          <p:cNvPicPr/>
          <p:nvPr/>
        </p:nvPicPr>
        <p:blipFill>
          <a:blip r:embed="rId3"/>
          <a:stretch/>
        </p:blipFill>
        <p:spPr>
          <a:xfrm>
            <a:off x="3371400" y="1453320"/>
            <a:ext cx="667080" cy="667080"/>
          </a:xfrm>
          <a:prstGeom prst="rect">
            <a:avLst/>
          </a:prstGeom>
          <a:noFill/>
          <a:ln w="0">
            <a:noFill/>
          </a:ln>
        </p:spPr>
      </p:pic>
      <p:sp>
        <p:nvSpPr>
          <p:cNvPr id="109" name="TextBox 71"/>
          <p:cNvSpPr/>
          <p:nvPr/>
        </p:nvSpPr>
        <p:spPr>
          <a:xfrm>
            <a:off x="6990480" y="1427040"/>
            <a:ext cx="180504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600" b="1" u="none" strike="noStrike" dirty="0">
                <a:solidFill>
                  <a:srgbClr val="002060"/>
                </a:solidFill>
                <a:effectLst/>
                <a:uFillTx/>
                <a:latin typeface="Calibri"/>
              </a:rPr>
              <a:t>Output file mining </a:t>
            </a:r>
            <a:r>
              <a:rPr lang="en-US" sz="1600" b="1" u="none" strike="noStrike" dirty="0">
                <a:solidFill>
                  <a:srgbClr val="002060"/>
                </a:solidFill>
                <a:effectLst/>
                <a:uFillTx/>
                <a:latin typeface="Calibri"/>
              </a:rPr>
              <a:t>from</a:t>
            </a:r>
            <a:r>
              <a:rPr lang="en-US" sz="1600" dirty="0">
                <a:solidFill>
                  <a:srgbClr val="000000"/>
                </a:solidFill>
                <a:latin typeface="Arial"/>
              </a:rPr>
              <a:t> </a:t>
            </a:r>
            <a:r>
              <a:rPr lang="en-GB" sz="1600" b="1" u="none" strike="noStrike" dirty="0">
                <a:solidFill>
                  <a:srgbClr val="002060"/>
                </a:solidFill>
                <a:effectLst/>
                <a:uFillTx/>
                <a:latin typeface="Calibri"/>
              </a:rPr>
              <a:t>QM single-point energies calculation</a:t>
            </a:r>
            <a:endParaRPr lang="en-US" sz="1600" b="0" u="none" strike="noStrike" dirty="0">
              <a:solidFill>
                <a:srgbClr val="000000"/>
              </a:solidFill>
              <a:effectLst/>
              <a:uFillTx/>
              <a:latin typeface="Arial"/>
            </a:endParaRPr>
          </a:p>
        </p:txBody>
      </p:sp>
      <p:pic>
        <p:nvPicPr>
          <p:cNvPr id="110" name="Graphic 76" descr="Forest scene with solid fill"/>
          <p:cNvPicPr/>
          <p:nvPr/>
        </p:nvPicPr>
        <p:blipFill>
          <a:blip r:embed="rId4"/>
          <a:stretch/>
        </p:blipFill>
        <p:spPr>
          <a:xfrm>
            <a:off x="6269400" y="1412280"/>
            <a:ext cx="690840" cy="690840"/>
          </a:xfrm>
          <a:prstGeom prst="rect">
            <a:avLst/>
          </a:prstGeom>
          <a:noFill/>
          <a:ln w="0">
            <a:noFill/>
          </a:ln>
        </p:spPr>
      </p:pic>
      <p:sp>
        <p:nvSpPr>
          <p:cNvPr id="111" name="TextBox 77"/>
          <p:cNvSpPr/>
          <p:nvPr/>
        </p:nvSpPr>
        <p:spPr>
          <a:xfrm>
            <a:off x="6728760" y="965880"/>
            <a:ext cx="180504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GB" sz="1600" b="1" u="none" strike="noStrike">
                <a:solidFill>
                  <a:schemeClr val="dk1"/>
                </a:solidFill>
                <a:effectLst/>
                <a:uFillTx/>
                <a:latin typeface="Calibri"/>
              </a:rPr>
              <a:t>Python Extraction</a:t>
            </a:r>
            <a:endParaRPr lang="en-US" sz="1600" b="0" u="none" strike="noStrike">
              <a:solidFill>
                <a:srgbClr val="000000"/>
              </a:solidFill>
              <a:effectLst/>
              <a:uFillTx/>
              <a:latin typeface="Arial"/>
            </a:endParaRPr>
          </a:p>
        </p:txBody>
      </p:sp>
      <p:sp>
        <p:nvSpPr>
          <p:cNvPr id="112" name="TextBox 87"/>
          <p:cNvSpPr/>
          <p:nvPr/>
        </p:nvSpPr>
        <p:spPr>
          <a:xfrm>
            <a:off x="6783251" y="3011617"/>
            <a:ext cx="2346480" cy="30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1" u="none" strike="noStrike" dirty="0">
                <a:solidFill>
                  <a:schemeClr val="dk1"/>
                </a:solidFill>
                <a:effectLst/>
                <a:uFillTx/>
                <a:latin typeface="Calibri"/>
              </a:rPr>
              <a:t>Coordinate Harvesting</a:t>
            </a:r>
            <a:endParaRPr lang="en-US" sz="1400" b="0" u="none" strike="noStrike" dirty="0">
              <a:solidFill>
                <a:srgbClr val="000000"/>
              </a:solidFill>
              <a:effectLst/>
              <a:uFillTx/>
              <a:latin typeface="Arial"/>
            </a:endParaRPr>
          </a:p>
        </p:txBody>
      </p:sp>
      <p:sp>
        <p:nvSpPr>
          <p:cNvPr id="113" name="TextBox 88"/>
          <p:cNvSpPr/>
          <p:nvPr/>
        </p:nvSpPr>
        <p:spPr>
          <a:xfrm>
            <a:off x="6741527" y="3524040"/>
            <a:ext cx="202932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71360" indent="-171360" defTabSz="914400">
              <a:lnSpc>
                <a:spcPct val="100000"/>
              </a:lnSpc>
              <a:buClr>
                <a:srgbClr val="002060"/>
              </a:buClr>
              <a:buFont typeface="Arial"/>
              <a:buChar char="•"/>
            </a:pPr>
            <a:r>
              <a:rPr lang="en-GB" sz="1400" b="1" u="none" strike="noStrike" dirty="0">
                <a:solidFill>
                  <a:srgbClr val="002060"/>
                </a:solidFill>
                <a:effectLst/>
                <a:uFillTx/>
                <a:latin typeface="Calibri"/>
              </a:rPr>
              <a:t>IGM Interfacing</a:t>
            </a:r>
            <a:endParaRPr lang="en-US" sz="1400" b="0" u="none" strike="noStrike" dirty="0">
              <a:solidFill>
                <a:srgbClr val="000000"/>
              </a:solidFill>
              <a:effectLst/>
              <a:uFillTx/>
              <a:latin typeface="Arial"/>
            </a:endParaRPr>
          </a:p>
          <a:p>
            <a:pPr marL="171360" indent="-171360" defTabSz="914400">
              <a:lnSpc>
                <a:spcPct val="100000"/>
              </a:lnSpc>
              <a:buClr>
                <a:srgbClr val="002060"/>
              </a:buClr>
              <a:buFont typeface="Arial"/>
              <a:buChar char="•"/>
            </a:pPr>
            <a:r>
              <a:rPr lang="en-GB" sz="1400" b="1" u="none" strike="noStrike" dirty="0">
                <a:solidFill>
                  <a:srgbClr val="002060"/>
                </a:solidFill>
                <a:effectLst/>
                <a:uFillTx/>
                <a:latin typeface="Calibri"/>
              </a:rPr>
              <a:t>Batch call to </a:t>
            </a:r>
            <a:r>
              <a:rPr lang="en-GB" sz="1400" b="1" u="none" strike="noStrike" dirty="0" err="1">
                <a:solidFill>
                  <a:srgbClr val="002060"/>
                </a:solidFill>
                <a:effectLst/>
                <a:uFillTx/>
                <a:latin typeface="Calibri"/>
              </a:rPr>
              <a:t>IGMPlot</a:t>
            </a:r>
            <a:r>
              <a:rPr lang="en-GB" sz="1400" b="1" u="none" strike="noStrike" dirty="0">
                <a:solidFill>
                  <a:srgbClr val="002060"/>
                </a:solidFill>
                <a:effectLst/>
                <a:uFillTx/>
                <a:latin typeface="Calibri"/>
              </a:rPr>
              <a:t> for </a:t>
            </a:r>
            <a:r>
              <a:rPr lang="en-GB" sz="1400" b="1" u="none" strike="noStrike" dirty="0" err="1">
                <a:solidFill>
                  <a:srgbClr val="002060"/>
                </a:solidFill>
                <a:effectLst/>
                <a:uFillTx/>
                <a:latin typeface="Calibri"/>
              </a:rPr>
              <a:t>δg</a:t>
            </a:r>
            <a:endParaRPr lang="en-US" sz="1400" b="0" u="none" strike="noStrike" dirty="0">
              <a:solidFill>
                <a:srgbClr val="000000"/>
              </a:solidFill>
              <a:effectLst/>
              <a:uFillTx/>
              <a:latin typeface="Arial"/>
            </a:endParaRPr>
          </a:p>
        </p:txBody>
      </p:sp>
      <p:sp>
        <p:nvSpPr>
          <p:cNvPr id="114" name="TextBox 101"/>
          <p:cNvSpPr/>
          <p:nvPr/>
        </p:nvSpPr>
        <p:spPr>
          <a:xfrm>
            <a:off x="3902940" y="2924232"/>
            <a:ext cx="180504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600" b="1" u="none" strike="noStrike" dirty="0">
                <a:solidFill>
                  <a:schemeClr val="dk1"/>
                </a:solidFill>
                <a:effectLst/>
                <a:uFillTx/>
                <a:latin typeface="Calibri"/>
              </a:rPr>
              <a:t>Final Analysis</a:t>
            </a:r>
            <a:endParaRPr lang="en-US" sz="1600" b="0" u="none" strike="noStrike" dirty="0">
              <a:solidFill>
                <a:srgbClr val="000000"/>
              </a:solidFill>
              <a:effectLst/>
              <a:uFillTx/>
              <a:latin typeface="Arial"/>
            </a:endParaRPr>
          </a:p>
        </p:txBody>
      </p:sp>
      <p:sp>
        <p:nvSpPr>
          <p:cNvPr id="115" name="TextBox 102"/>
          <p:cNvSpPr/>
          <p:nvPr/>
        </p:nvSpPr>
        <p:spPr>
          <a:xfrm>
            <a:off x="3904920" y="3403800"/>
            <a:ext cx="195192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1" u="none" strike="noStrike" dirty="0">
                <a:solidFill>
                  <a:srgbClr val="002060"/>
                </a:solidFill>
                <a:effectLst/>
                <a:uFillTx/>
                <a:latin typeface="Calibri"/>
              </a:rPr>
              <a:t>Parse results into master.csv</a:t>
            </a:r>
            <a:endParaRPr lang="en-US" sz="1400" b="0" u="none" strike="noStrike" dirty="0">
              <a:solidFill>
                <a:srgbClr val="000000"/>
              </a:solidFill>
              <a:effectLst/>
              <a:uFillTx/>
              <a:latin typeface="Arial"/>
            </a:endParaRPr>
          </a:p>
        </p:txBody>
      </p:sp>
      <p:sp>
        <p:nvSpPr>
          <p:cNvPr id="116" name="TextBox 108"/>
          <p:cNvSpPr/>
          <p:nvPr/>
        </p:nvSpPr>
        <p:spPr>
          <a:xfrm>
            <a:off x="867101" y="2826000"/>
            <a:ext cx="2050200" cy="577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600" b="1" u="none" strike="noStrike">
                <a:solidFill>
                  <a:schemeClr val="dk1"/>
                </a:solidFill>
                <a:effectLst/>
                <a:uFillTx/>
                <a:latin typeface="Calibri"/>
              </a:rPr>
              <a:t>Visualization &amp; Interpretation</a:t>
            </a:r>
            <a:endParaRPr lang="en-US" sz="1600" b="0" u="none" strike="noStrike">
              <a:solidFill>
                <a:srgbClr val="000000"/>
              </a:solidFill>
              <a:effectLst/>
              <a:uFillTx/>
              <a:latin typeface="Arial"/>
            </a:endParaRPr>
          </a:p>
        </p:txBody>
      </p:sp>
      <p:sp>
        <p:nvSpPr>
          <p:cNvPr id="117" name="TextBox 109"/>
          <p:cNvSpPr/>
          <p:nvPr/>
        </p:nvSpPr>
        <p:spPr>
          <a:xfrm>
            <a:off x="1086341" y="3387960"/>
            <a:ext cx="155376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71360" indent="-171360" defTabSz="914400">
              <a:lnSpc>
                <a:spcPct val="100000"/>
              </a:lnSpc>
              <a:buClr>
                <a:srgbClr val="002060"/>
              </a:buClr>
              <a:buFont typeface="Arial"/>
              <a:buChar char="•"/>
            </a:pPr>
            <a:r>
              <a:rPr lang="en-GB" sz="1200" b="1" u="none" strike="noStrike" dirty="0" err="1">
                <a:solidFill>
                  <a:srgbClr val="002060"/>
                </a:solidFill>
                <a:effectLst/>
                <a:uFillTx/>
                <a:latin typeface="Calibri"/>
              </a:rPr>
              <a:t>δg</a:t>
            </a:r>
            <a:r>
              <a:rPr lang="en-GB" sz="1200" b="1" u="none" strike="noStrike" dirty="0">
                <a:solidFill>
                  <a:srgbClr val="002060"/>
                </a:solidFill>
                <a:effectLst/>
                <a:uFillTx/>
                <a:latin typeface="Calibri"/>
              </a:rPr>
              <a:t> Profile</a:t>
            </a:r>
            <a:endParaRPr lang="en-US" sz="1200" b="0" u="none" strike="noStrike" dirty="0">
              <a:solidFill>
                <a:srgbClr val="000000"/>
              </a:solidFill>
              <a:effectLst/>
              <a:uFillTx/>
              <a:latin typeface="Arial"/>
            </a:endParaRPr>
          </a:p>
          <a:p>
            <a:pPr marL="171360" indent="-171360" defTabSz="914400">
              <a:lnSpc>
                <a:spcPct val="100000"/>
              </a:lnSpc>
              <a:buClr>
                <a:srgbClr val="002060"/>
              </a:buClr>
              <a:buFont typeface="Arial"/>
              <a:buChar char="•"/>
            </a:pPr>
            <a:r>
              <a:rPr lang="en-GB" sz="1200" b="1" u="none" strike="noStrike" dirty="0">
                <a:solidFill>
                  <a:srgbClr val="002060"/>
                </a:solidFill>
                <a:effectLst/>
                <a:uFillTx/>
                <a:latin typeface="Calibri"/>
              </a:rPr>
              <a:t>Transition State ID </a:t>
            </a:r>
            <a:endParaRPr lang="en-US" sz="1200" b="0" u="none" strike="noStrike" dirty="0">
              <a:solidFill>
                <a:srgbClr val="000000"/>
              </a:solidFill>
              <a:effectLst/>
              <a:uFillTx/>
              <a:latin typeface="Arial"/>
            </a:endParaRPr>
          </a:p>
          <a:p>
            <a:pPr marL="171360" indent="-171360" defTabSz="914400">
              <a:lnSpc>
                <a:spcPct val="100000"/>
              </a:lnSpc>
              <a:buClr>
                <a:srgbClr val="002060"/>
              </a:buClr>
              <a:buFont typeface="Arial"/>
              <a:buChar char="•"/>
            </a:pPr>
            <a:r>
              <a:rPr lang="en-GB" sz="1200" b="1" u="none" strike="noStrike" dirty="0">
                <a:solidFill>
                  <a:srgbClr val="002060"/>
                </a:solidFill>
                <a:effectLst/>
                <a:uFillTx/>
                <a:latin typeface="Calibri"/>
              </a:rPr>
              <a:t>Mechanism Insight</a:t>
            </a:r>
            <a:endParaRPr lang="en-US" sz="1200" b="0" u="none" strike="noStrike" dirty="0">
              <a:solidFill>
                <a:srgbClr val="000000"/>
              </a:solidFill>
              <a:effectLst/>
              <a:uFillTx/>
              <a:latin typeface="Arial"/>
            </a:endParaRPr>
          </a:p>
        </p:txBody>
      </p:sp>
      <p:pic>
        <p:nvPicPr>
          <p:cNvPr id="118" name="Graphic 114" descr="Network with solid fill"/>
          <p:cNvPicPr/>
          <p:nvPr/>
        </p:nvPicPr>
        <p:blipFill>
          <a:blip r:embed="rId5"/>
          <a:stretch/>
        </p:blipFill>
        <p:spPr>
          <a:xfrm>
            <a:off x="6331487" y="3554280"/>
            <a:ext cx="596160" cy="596160"/>
          </a:xfrm>
          <a:prstGeom prst="rect">
            <a:avLst/>
          </a:prstGeom>
          <a:noFill/>
          <a:ln w="0">
            <a:noFill/>
          </a:ln>
        </p:spPr>
      </p:pic>
      <p:pic>
        <p:nvPicPr>
          <p:cNvPr id="119" name="Graphic 132" descr="Checklist with solid fill"/>
          <p:cNvPicPr/>
          <p:nvPr/>
        </p:nvPicPr>
        <p:blipFill>
          <a:blip r:embed="rId6"/>
          <a:stretch/>
        </p:blipFill>
        <p:spPr>
          <a:xfrm>
            <a:off x="457421" y="3430800"/>
            <a:ext cx="624960" cy="608760"/>
          </a:xfrm>
          <a:prstGeom prst="rect">
            <a:avLst/>
          </a:prstGeom>
          <a:noFill/>
          <a:ln w="0">
            <a:noFill/>
          </a:ln>
        </p:spPr>
      </p:pic>
      <p:pic>
        <p:nvPicPr>
          <p:cNvPr id="120" name="Graphic 134" descr="Single gear with solid fill"/>
          <p:cNvPicPr/>
          <p:nvPr/>
        </p:nvPicPr>
        <p:blipFill>
          <a:blip r:embed="rId7"/>
          <a:stretch/>
        </p:blipFill>
        <p:spPr>
          <a:xfrm>
            <a:off x="3394800" y="3446640"/>
            <a:ext cx="596520" cy="596520"/>
          </a:xfrm>
          <a:prstGeom prst="rect">
            <a:avLst/>
          </a:prstGeom>
          <a:noFill/>
          <a:ln w="0">
            <a:noFill/>
          </a:ln>
        </p:spPr>
      </p:pic>
      <p:pic>
        <p:nvPicPr>
          <p:cNvPr id="121" name="Graphic 157" descr="Back with solid fill"/>
          <p:cNvPicPr/>
          <p:nvPr/>
        </p:nvPicPr>
        <p:blipFill>
          <a:blip r:embed="rId8"/>
          <a:stretch/>
        </p:blipFill>
        <p:spPr>
          <a:xfrm>
            <a:off x="5542560" y="902880"/>
            <a:ext cx="777240" cy="777240"/>
          </a:xfrm>
          <a:prstGeom prst="rect">
            <a:avLst/>
          </a:prstGeom>
          <a:noFill/>
          <a:ln w="0">
            <a:noFill/>
          </a:ln>
        </p:spPr>
      </p:pic>
      <p:pic>
        <p:nvPicPr>
          <p:cNvPr id="122" name="Picture 158"/>
          <p:cNvPicPr/>
          <p:nvPr/>
        </p:nvPicPr>
        <p:blipFill>
          <a:blip r:embed="rId9"/>
          <a:stretch/>
        </p:blipFill>
        <p:spPr>
          <a:xfrm rot="11544600">
            <a:off x="5624640" y="3260160"/>
            <a:ext cx="780120" cy="780120"/>
          </a:xfrm>
          <a:prstGeom prst="rect">
            <a:avLst/>
          </a:prstGeom>
          <a:noFill/>
          <a:ln w="0">
            <a:noFill/>
          </a:ln>
        </p:spPr>
      </p:pic>
      <p:pic>
        <p:nvPicPr>
          <p:cNvPr id="123" name="Picture 159"/>
          <p:cNvPicPr/>
          <p:nvPr/>
        </p:nvPicPr>
        <p:blipFill>
          <a:blip r:embed="rId9"/>
          <a:stretch/>
        </p:blipFill>
        <p:spPr>
          <a:xfrm rot="11544600">
            <a:off x="2611080" y="3250080"/>
            <a:ext cx="780120" cy="780120"/>
          </a:xfrm>
          <a:prstGeom prst="rect">
            <a:avLst/>
          </a:prstGeom>
          <a:noFill/>
          <a:ln w="0">
            <a:noFill/>
          </a:ln>
        </p:spPr>
      </p:pic>
      <p:pic>
        <p:nvPicPr>
          <p:cNvPr id="124" name="Graphic 160" descr="Back with solid fill"/>
          <p:cNvPicPr/>
          <p:nvPr/>
        </p:nvPicPr>
        <p:blipFill>
          <a:blip r:embed="rId8"/>
          <a:stretch/>
        </p:blipFill>
        <p:spPr>
          <a:xfrm rot="6455400">
            <a:off x="8230680" y="2272680"/>
            <a:ext cx="891000" cy="891000"/>
          </a:xfrm>
          <a:prstGeom prst="rect">
            <a:avLst/>
          </a:prstGeom>
          <a:noFill/>
          <a:ln w="0">
            <a:noFill/>
          </a:ln>
        </p:spPr>
      </p:pic>
      <p:grpSp>
        <p:nvGrpSpPr>
          <p:cNvPr id="125" name="Group 169"/>
          <p:cNvGrpSpPr/>
          <p:nvPr/>
        </p:nvGrpSpPr>
        <p:grpSpPr>
          <a:xfrm>
            <a:off x="6356880" y="913680"/>
            <a:ext cx="412920" cy="430200"/>
            <a:chOff x="6356880" y="913680"/>
            <a:chExt cx="412920" cy="430200"/>
          </a:xfrm>
        </p:grpSpPr>
        <p:sp>
          <p:nvSpPr>
            <p:cNvPr id="126" name="Oval 161"/>
            <p:cNvSpPr/>
            <p:nvPr/>
          </p:nvSpPr>
          <p:spPr>
            <a:xfrm>
              <a:off x="6356880" y="921240"/>
              <a:ext cx="412920" cy="42264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27" name="TextBox 168"/>
            <p:cNvSpPr/>
            <p:nvPr/>
          </p:nvSpPr>
          <p:spPr>
            <a:xfrm>
              <a:off x="6413040" y="913680"/>
              <a:ext cx="2332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a:solidFill>
                    <a:schemeClr val="dk1"/>
                  </a:solidFill>
                  <a:effectLst/>
                  <a:uFillTx/>
                  <a:latin typeface="Calibri"/>
                </a:rPr>
                <a:t>3</a:t>
              </a:r>
              <a:endParaRPr lang="en-US" sz="1800" b="0" u="none" strike="noStrike">
                <a:solidFill>
                  <a:srgbClr val="000000"/>
                </a:solidFill>
                <a:effectLst/>
                <a:uFillTx/>
                <a:latin typeface="Arial"/>
              </a:endParaRPr>
            </a:p>
          </p:txBody>
        </p:sp>
      </p:grpSp>
      <p:grpSp>
        <p:nvGrpSpPr>
          <p:cNvPr id="128" name="Group 176"/>
          <p:cNvGrpSpPr/>
          <p:nvPr/>
        </p:nvGrpSpPr>
        <p:grpSpPr>
          <a:xfrm>
            <a:off x="6432203" y="2948760"/>
            <a:ext cx="412920" cy="422640"/>
            <a:chOff x="405360" y="2985120"/>
            <a:chExt cx="412920" cy="422640"/>
          </a:xfrm>
        </p:grpSpPr>
        <p:sp>
          <p:nvSpPr>
            <p:cNvPr id="129" name="Oval 177"/>
            <p:cNvSpPr/>
            <p:nvPr/>
          </p:nvSpPr>
          <p:spPr>
            <a:xfrm>
              <a:off x="405360" y="2985120"/>
              <a:ext cx="412920" cy="42264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30" name="TextBox 178"/>
            <p:cNvSpPr/>
            <p:nvPr/>
          </p:nvSpPr>
          <p:spPr>
            <a:xfrm>
              <a:off x="453240" y="2990520"/>
              <a:ext cx="2332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dirty="0">
                  <a:solidFill>
                    <a:schemeClr val="dk1"/>
                  </a:solidFill>
                  <a:effectLst/>
                  <a:uFillTx/>
                  <a:latin typeface="Calibri"/>
                </a:rPr>
                <a:t>4</a:t>
              </a:r>
              <a:endParaRPr lang="en-US" sz="1800" b="0" u="none" strike="noStrike" dirty="0">
                <a:solidFill>
                  <a:srgbClr val="000000"/>
                </a:solidFill>
                <a:effectLst/>
                <a:uFillTx/>
                <a:latin typeface="Arial"/>
              </a:endParaRPr>
            </a:p>
          </p:txBody>
        </p:sp>
      </p:grpSp>
      <p:grpSp>
        <p:nvGrpSpPr>
          <p:cNvPr id="131" name="Group 179"/>
          <p:cNvGrpSpPr/>
          <p:nvPr/>
        </p:nvGrpSpPr>
        <p:grpSpPr>
          <a:xfrm>
            <a:off x="3502080" y="2928960"/>
            <a:ext cx="412920" cy="422640"/>
            <a:chOff x="3502080" y="2928960"/>
            <a:chExt cx="412920" cy="422640"/>
          </a:xfrm>
        </p:grpSpPr>
        <p:sp>
          <p:nvSpPr>
            <p:cNvPr id="132" name="Oval 180"/>
            <p:cNvSpPr/>
            <p:nvPr/>
          </p:nvSpPr>
          <p:spPr>
            <a:xfrm>
              <a:off x="3502080" y="2928960"/>
              <a:ext cx="412920" cy="42264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33" name="TextBox 181"/>
            <p:cNvSpPr/>
            <p:nvPr/>
          </p:nvSpPr>
          <p:spPr>
            <a:xfrm>
              <a:off x="3545640" y="2968200"/>
              <a:ext cx="2332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a:solidFill>
                    <a:schemeClr val="dk1"/>
                  </a:solidFill>
                  <a:effectLst/>
                  <a:uFillTx/>
                  <a:latin typeface="Calibri"/>
                </a:rPr>
                <a:t>5</a:t>
              </a:r>
              <a:endParaRPr lang="en-US" sz="1800" b="0" u="none" strike="noStrike">
                <a:solidFill>
                  <a:srgbClr val="000000"/>
                </a:solidFill>
                <a:effectLst/>
                <a:uFillTx/>
                <a:latin typeface="Arial"/>
              </a:endParaRPr>
            </a:p>
          </p:txBody>
        </p:sp>
      </p:grpSp>
      <p:grpSp>
        <p:nvGrpSpPr>
          <p:cNvPr id="134" name="Group 182"/>
          <p:cNvGrpSpPr/>
          <p:nvPr/>
        </p:nvGrpSpPr>
        <p:grpSpPr>
          <a:xfrm>
            <a:off x="514212" y="2904792"/>
            <a:ext cx="412920" cy="422640"/>
            <a:chOff x="6413040" y="2918520"/>
            <a:chExt cx="412920" cy="422640"/>
          </a:xfrm>
        </p:grpSpPr>
        <p:sp>
          <p:nvSpPr>
            <p:cNvPr id="135" name="Oval 183"/>
            <p:cNvSpPr/>
            <p:nvPr/>
          </p:nvSpPr>
          <p:spPr>
            <a:xfrm>
              <a:off x="6413040" y="2918520"/>
              <a:ext cx="412920" cy="42264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36" name="TextBox 184"/>
            <p:cNvSpPr/>
            <p:nvPr/>
          </p:nvSpPr>
          <p:spPr>
            <a:xfrm>
              <a:off x="6469200" y="2937960"/>
              <a:ext cx="2332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a:solidFill>
                    <a:schemeClr val="dk1"/>
                  </a:solidFill>
                  <a:effectLst/>
                  <a:uFillTx/>
                  <a:latin typeface="Calibri"/>
                </a:rPr>
                <a:t>6</a:t>
              </a:r>
              <a:endParaRPr lang="en-US" sz="1800" b="0" u="none" strike="noStrike">
                <a:solidFill>
                  <a:srgbClr val="000000"/>
                </a:solidFill>
                <a:effectLst/>
                <a:uFillTx/>
                <a:latin typeface="Arial"/>
              </a:endParaRPr>
            </a:p>
          </p:txBody>
        </p:sp>
      </p:grpSp>
      <p:grpSp>
        <p:nvGrpSpPr>
          <p:cNvPr id="137" name="Group 3"/>
          <p:cNvGrpSpPr/>
          <p:nvPr/>
        </p:nvGrpSpPr>
        <p:grpSpPr>
          <a:xfrm>
            <a:off x="358200" y="794880"/>
            <a:ext cx="2657880" cy="1798457"/>
            <a:chOff x="358200" y="794880"/>
            <a:chExt cx="2657880" cy="1798457"/>
          </a:xfrm>
        </p:grpSpPr>
        <p:sp>
          <p:nvSpPr>
            <p:cNvPr id="138" name="Rectangle: Rounded Corners 143"/>
            <p:cNvSpPr/>
            <p:nvPr/>
          </p:nvSpPr>
          <p:spPr>
            <a:xfrm>
              <a:off x="368280" y="803520"/>
              <a:ext cx="2440080" cy="1672560"/>
            </a:xfrm>
            <a:prstGeom prst="roundRect">
              <a:avLst>
                <a:gd name="adj" fmla="val 16667"/>
              </a:avLst>
            </a:prstGeom>
            <a:solidFill>
              <a:schemeClr val="accent4">
                <a:lumMod val="20000"/>
                <a:lumOff val="80000"/>
              </a:schemeClr>
            </a:solidFill>
            <a:ln w="28440">
              <a:noFill/>
            </a:ln>
            <a:effectLst>
              <a:softEdge rad="3168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dirty="0">
                <a:solidFill>
                  <a:schemeClr val="lt1"/>
                </a:solidFill>
                <a:effectLst/>
                <a:uFillTx/>
                <a:latin typeface="Calibri"/>
              </a:endParaRPr>
            </a:p>
          </p:txBody>
        </p:sp>
        <p:sp>
          <p:nvSpPr>
            <p:cNvPr id="139" name="Flowchart: Terminator 189"/>
            <p:cNvSpPr/>
            <p:nvPr/>
          </p:nvSpPr>
          <p:spPr>
            <a:xfrm>
              <a:off x="358200" y="794880"/>
              <a:ext cx="2459880" cy="629640"/>
            </a:xfrm>
            <a:prstGeom prst="flowChartTerminator">
              <a:avLst/>
            </a:prstGeom>
            <a:solidFill>
              <a:schemeClr val="accent5">
                <a:lumMod val="60000"/>
                <a:lumOff val="40000"/>
              </a:schemeClr>
            </a:solidFill>
            <a:ln w="12600">
              <a:noFill/>
            </a:ln>
            <a:effectLst>
              <a:softEdge rad="63360"/>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lt1"/>
                </a:solidFill>
                <a:effectLst/>
                <a:uFillTx/>
                <a:latin typeface="Calibri"/>
              </a:endParaRPr>
            </a:p>
          </p:txBody>
        </p:sp>
        <p:sp>
          <p:nvSpPr>
            <p:cNvPr id="140" name="TextBox 22"/>
            <p:cNvSpPr/>
            <p:nvPr/>
          </p:nvSpPr>
          <p:spPr>
            <a:xfrm>
              <a:off x="876960" y="843480"/>
              <a:ext cx="2066040" cy="577800"/>
            </a:xfrm>
            <a:prstGeom prst="rect">
              <a:avLst/>
            </a:prstGeom>
            <a:noFill/>
            <a:ln w="648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600" b="1" u="none" strike="noStrike">
                  <a:solidFill>
                    <a:schemeClr val="dk1"/>
                  </a:solidFill>
                  <a:effectLst/>
                  <a:uFillTx/>
                  <a:latin typeface="Calibri"/>
                </a:rPr>
                <a:t>Input: 46 IRC Geometries</a:t>
              </a:r>
              <a:endParaRPr lang="en-US" sz="1600" b="0" u="none" strike="noStrike">
                <a:solidFill>
                  <a:srgbClr val="000000"/>
                </a:solidFill>
                <a:effectLst/>
                <a:uFillTx/>
                <a:latin typeface="Arial"/>
              </a:endParaRPr>
            </a:p>
          </p:txBody>
        </p:sp>
        <p:pic>
          <p:nvPicPr>
            <p:cNvPr id="141" name="Graphic 29" descr="Database with solid fill"/>
            <p:cNvPicPr/>
            <p:nvPr/>
          </p:nvPicPr>
          <p:blipFill>
            <a:blip r:embed="rId10"/>
            <a:stretch/>
          </p:blipFill>
          <p:spPr>
            <a:xfrm>
              <a:off x="382320" y="1519560"/>
              <a:ext cx="777240" cy="702720"/>
            </a:xfrm>
            <a:prstGeom prst="rect">
              <a:avLst/>
            </a:prstGeom>
            <a:noFill/>
            <a:ln w="0">
              <a:noFill/>
            </a:ln>
          </p:spPr>
        </p:pic>
        <p:grpSp>
          <p:nvGrpSpPr>
            <p:cNvPr id="142" name="Group 173"/>
            <p:cNvGrpSpPr/>
            <p:nvPr/>
          </p:nvGrpSpPr>
          <p:grpSpPr>
            <a:xfrm>
              <a:off x="421560" y="921240"/>
              <a:ext cx="412920" cy="430200"/>
              <a:chOff x="421560" y="921240"/>
              <a:chExt cx="412920" cy="430200"/>
            </a:xfrm>
          </p:grpSpPr>
          <p:sp>
            <p:nvSpPr>
              <p:cNvPr id="143" name="Oval 174"/>
              <p:cNvSpPr/>
              <p:nvPr/>
            </p:nvSpPr>
            <p:spPr>
              <a:xfrm>
                <a:off x="421560" y="928800"/>
                <a:ext cx="412920" cy="42264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44" name="TextBox 175"/>
              <p:cNvSpPr/>
              <p:nvPr/>
            </p:nvSpPr>
            <p:spPr>
              <a:xfrm>
                <a:off x="477720" y="921240"/>
                <a:ext cx="2332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800" b="1" u="none" strike="noStrike">
                    <a:solidFill>
                      <a:schemeClr val="dk1"/>
                    </a:solidFill>
                    <a:effectLst/>
                    <a:uFillTx/>
                    <a:latin typeface="Calibri"/>
                  </a:rPr>
                  <a:t>1</a:t>
                </a:r>
                <a:endParaRPr lang="en-US" sz="1800" b="0" u="none" strike="noStrike">
                  <a:solidFill>
                    <a:srgbClr val="000000"/>
                  </a:solidFill>
                  <a:effectLst/>
                  <a:uFillTx/>
                  <a:latin typeface="Arial"/>
                </a:endParaRPr>
              </a:p>
            </p:txBody>
          </p:sp>
        </p:grpSp>
        <p:sp>
          <p:nvSpPr>
            <p:cNvPr id="145" name="TextBox 185"/>
            <p:cNvSpPr/>
            <p:nvPr/>
          </p:nvSpPr>
          <p:spPr>
            <a:xfrm>
              <a:off x="1056240" y="1425240"/>
              <a:ext cx="1959840" cy="116809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1" u="none" strike="noStrike" dirty="0">
                  <a:solidFill>
                    <a:srgbClr val="002060"/>
                  </a:solidFill>
                  <a:effectLst/>
                  <a:uFillTx/>
                  <a:latin typeface="Calibri"/>
                </a:rPr>
                <a:t>Binary coordinates (.</a:t>
              </a:r>
              <a:r>
                <a:rPr lang="en-GB" sz="1400" b="1" u="none" strike="noStrike" dirty="0" err="1">
                  <a:solidFill>
                    <a:srgbClr val="002060"/>
                  </a:solidFill>
                  <a:effectLst/>
                  <a:uFillTx/>
                  <a:latin typeface="Calibri"/>
                </a:rPr>
                <a:t>rkf</a:t>
              </a:r>
              <a:r>
                <a:rPr lang="en-GB" sz="1400" b="1" u="none" strike="noStrike" dirty="0">
                  <a:solidFill>
                    <a:srgbClr val="002060"/>
                  </a:solidFill>
                  <a:effectLst/>
                  <a:uFillTx/>
                  <a:latin typeface="Calibri"/>
                </a:rPr>
                <a:t>)</a:t>
              </a:r>
            </a:p>
            <a:p>
              <a:pPr defTabSz="914400">
                <a:lnSpc>
                  <a:spcPct val="100000"/>
                </a:lnSpc>
              </a:pPr>
              <a:r>
                <a:rPr lang="en-GB" sz="1400" b="1" u="none" strike="noStrike" dirty="0">
                  <a:solidFill>
                    <a:srgbClr val="002060"/>
                  </a:solidFill>
                  <a:effectLst/>
                  <a:uFillTx/>
                  <a:latin typeface="Calibri"/>
                </a:rPr>
                <a:t>Individual input file generation</a:t>
              </a:r>
            </a:p>
            <a:p>
              <a:pPr defTabSz="914400">
                <a:lnSpc>
                  <a:spcPct val="100000"/>
                </a:lnSpc>
              </a:pPr>
              <a:endParaRPr lang="en-US" sz="1400" b="0" u="none" strike="noStrike" dirty="0">
                <a:solidFill>
                  <a:srgbClr val="000000"/>
                </a:solidFill>
                <a:effectLst/>
                <a:uFillTx/>
                <a:latin typeface="Arial"/>
              </a:endParaRPr>
            </a:p>
          </p:txBody>
        </p:sp>
      </p:grpSp>
      <p:grpSp>
        <p:nvGrpSpPr>
          <p:cNvPr id="146" name="Group 167"/>
          <p:cNvGrpSpPr/>
          <p:nvPr/>
        </p:nvGrpSpPr>
        <p:grpSpPr>
          <a:xfrm>
            <a:off x="2657160" y="925200"/>
            <a:ext cx="1196280" cy="888480"/>
            <a:chOff x="2657160" y="925200"/>
            <a:chExt cx="1196280" cy="888480"/>
          </a:xfrm>
        </p:grpSpPr>
        <p:sp>
          <p:nvSpPr>
            <p:cNvPr id="147" name="Oval 36"/>
            <p:cNvSpPr/>
            <p:nvPr/>
          </p:nvSpPr>
          <p:spPr>
            <a:xfrm>
              <a:off x="3436560" y="925200"/>
              <a:ext cx="412920" cy="396000"/>
            </a:xfrm>
            <a:prstGeom prst="ellipse">
              <a:avLst/>
            </a:prstGeom>
            <a:solidFill>
              <a:schemeClr val="lt1"/>
            </a:solidFill>
            <a:ln w="2844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u="none" strike="noStrike">
                <a:solidFill>
                  <a:schemeClr val="dk1"/>
                </a:solidFill>
                <a:effectLst/>
                <a:uFillTx/>
                <a:latin typeface="Calibri"/>
              </a:endParaRPr>
            </a:p>
          </p:txBody>
        </p:sp>
        <p:sp>
          <p:nvSpPr>
            <p:cNvPr id="148" name="TextBox 37"/>
            <p:cNvSpPr/>
            <p:nvPr/>
          </p:nvSpPr>
          <p:spPr>
            <a:xfrm>
              <a:off x="3504960" y="942480"/>
              <a:ext cx="34848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600" b="1" u="none" strike="noStrike">
                  <a:solidFill>
                    <a:schemeClr val="dk1"/>
                  </a:solidFill>
                  <a:effectLst/>
                  <a:uFillTx/>
                  <a:latin typeface="Calibri"/>
                </a:rPr>
                <a:t>2</a:t>
              </a:r>
              <a:endParaRPr lang="en-US" sz="1600" b="0" u="none" strike="noStrike">
                <a:solidFill>
                  <a:srgbClr val="000000"/>
                </a:solidFill>
                <a:effectLst/>
                <a:uFillTx/>
                <a:latin typeface="Arial"/>
              </a:endParaRPr>
            </a:p>
          </p:txBody>
        </p:sp>
        <p:pic>
          <p:nvPicPr>
            <p:cNvPr id="149" name="Graphic 156" descr="Back with solid fill"/>
            <p:cNvPicPr/>
            <p:nvPr/>
          </p:nvPicPr>
          <p:blipFill>
            <a:blip r:embed="rId8"/>
            <a:stretch/>
          </p:blipFill>
          <p:spPr>
            <a:xfrm>
              <a:off x="2657160" y="1036440"/>
              <a:ext cx="777240" cy="777240"/>
            </a:xfrm>
            <a:prstGeom prst="rect">
              <a:avLst/>
            </a:prstGeom>
            <a:noFill/>
            <a:ln w="0">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Integrated Technology Stack</a:t>
            </a:r>
            <a:endParaRPr lang="en-US" sz="2800" b="0" u="none" strike="noStrike">
              <a:solidFill>
                <a:srgbClr val="000000"/>
              </a:solidFill>
              <a:effectLst/>
              <a:uFillTx/>
              <a:latin typeface="Arial"/>
            </a:endParaRPr>
          </a:p>
        </p:txBody>
      </p:sp>
      <p:sp>
        <p:nvSpPr>
          <p:cNvPr id="151"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52" name="Text 5"/>
          <p:cNvSpPr/>
          <p:nvPr/>
        </p:nvSpPr>
        <p:spPr>
          <a:xfrm>
            <a:off x="411480" y="736560"/>
            <a:ext cx="41601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2E75B6"/>
                </a:solidFill>
                <a:effectLst/>
                <a:uFillTx/>
                <a:latin typeface="Calibri"/>
                <a:ea typeface="Calibri"/>
              </a:rPr>
              <a:t>From geometry files to interaction maps</a:t>
            </a:r>
            <a:endParaRPr lang="en-US" sz="1800" b="0" u="none" strike="noStrike">
              <a:solidFill>
                <a:srgbClr val="000000"/>
              </a:solidFill>
              <a:effectLst/>
              <a:uFillTx/>
              <a:latin typeface="Arial"/>
            </a:endParaRPr>
          </a:p>
        </p:txBody>
      </p:sp>
      <p:sp>
        <p:nvSpPr>
          <p:cNvPr id="153" name="Card 1"/>
          <p:cNvSpPr/>
          <p:nvPr/>
        </p:nvSpPr>
        <p:spPr>
          <a:xfrm>
            <a:off x="411480" y="1355040"/>
            <a:ext cx="2653560" cy="2972520"/>
          </a:xfrm>
          <a:prstGeom prst="roundRect">
            <a:avLst>
              <a:gd name="adj" fmla="val 16667"/>
            </a:avLst>
          </a:prstGeom>
          <a:solidFill>
            <a:schemeClr val="accent1">
              <a:lumMod val="15000"/>
              <a:lumOff val="85000"/>
            </a:schemeClr>
          </a:solidFill>
          <a:ln w="0">
            <a:noFill/>
          </a:ln>
        </p:spPr>
        <p:style>
          <a:lnRef idx="0">
            <a:scrgbClr r="0" g="0" b="0"/>
          </a:lnRef>
          <a:fillRef idx="0">
            <a:scrgbClr r="0" g="0" b="0"/>
          </a:fillRef>
          <a:effectRef idx="0">
            <a:scrgbClr r="0" g="0" b="0"/>
          </a:effectRef>
          <a:fontRef idx="minor"/>
        </p:style>
        <p:txBody>
          <a:bodyPr lIns="180000" tIns="180000" rIns="180000" bIns="180000" anchor="t">
            <a:noAutofit/>
          </a:bodyPr>
          <a:lstStyle/>
          <a:p>
            <a:pPr algn="ctr" defTabSz="914400">
              <a:lnSpc>
                <a:spcPct val="100000"/>
              </a:lnSpc>
            </a:pPr>
            <a:r>
              <a:rPr lang="en-US" sz="1800" b="1" u="none" strike="noStrike">
                <a:solidFill>
                  <a:srgbClr val="1F4E79"/>
                </a:solidFill>
                <a:effectLst/>
                <a:uFillTx/>
                <a:latin typeface="Calibri"/>
              </a:rPr>
              <a:t>Python Scripting</a:t>
            </a:r>
            <a:endParaRPr lang="en-US" sz="1800" b="0" u="none" strike="noStrike">
              <a:solidFill>
                <a:srgbClr val="000000"/>
              </a:solidFill>
              <a:effectLst/>
              <a:uFillTx/>
              <a:latin typeface="Arial"/>
            </a:endParaRPr>
          </a:p>
          <a:p>
            <a:pPr algn="ctr" defTabSz="914400">
              <a:lnSpc>
                <a:spcPct val="100000"/>
              </a:lnSpc>
            </a:pPr>
            <a:r>
              <a:rPr lang="en-US" sz="1400" b="0" u="none" strike="noStrike">
                <a:solidFill>
                  <a:srgbClr val="1A1A1A"/>
                </a:solidFill>
                <a:effectLst/>
                <a:uFillTx/>
                <a:latin typeface="Calibri"/>
              </a:rPr>
              <a:t>Input generation and master loop control</a:t>
            </a:r>
            <a:endParaRPr lang="en-US" sz="1400" b="0" u="none" strike="noStrike">
              <a:solidFill>
                <a:srgbClr val="000000"/>
              </a:solidFill>
              <a:effectLst/>
              <a:uFillTx/>
              <a:latin typeface="Arial"/>
            </a:endParaRPr>
          </a:p>
        </p:txBody>
      </p:sp>
      <p:sp>
        <p:nvSpPr>
          <p:cNvPr id="154" name="Card 2"/>
          <p:cNvSpPr/>
          <p:nvPr/>
        </p:nvSpPr>
        <p:spPr>
          <a:xfrm>
            <a:off x="3245040" y="1355040"/>
            <a:ext cx="2653560" cy="2972520"/>
          </a:xfrm>
          <a:prstGeom prst="roundRect">
            <a:avLst>
              <a:gd name="adj" fmla="val 16667"/>
            </a:avLst>
          </a:prstGeom>
          <a:solidFill>
            <a:schemeClr val="accent1">
              <a:lumMod val="15000"/>
              <a:lumOff val="85000"/>
            </a:schemeClr>
          </a:solidFill>
          <a:ln w="0">
            <a:noFill/>
          </a:ln>
        </p:spPr>
        <p:style>
          <a:lnRef idx="0">
            <a:scrgbClr r="0" g="0" b="0"/>
          </a:lnRef>
          <a:fillRef idx="0">
            <a:scrgbClr r="0" g="0" b="0"/>
          </a:fillRef>
          <a:effectRef idx="0">
            <a:scrgbClr r="0" g="0" b="0"/>
          </a:effectRef>
          <a:fontRef idx="minor"/>
        </p:style>
        <p:txBody>
          <a:bodyPr lIns="180000" tIns="180000" rIns="180000" bIns="180000" anchor="t">
            <a:noAutofit/>
          </a:bodyPr>
          <a:lstStyle/>
          <a:p>
            <a:pPr algn="ctr" defTabSz="914400">
              <a:lnSpc>
                <a:spcPct val="100000"/>
              </a:lnSpc>
            </a:pPr>
            <a:r>
              <a:rPr lang="en-US" sz="1800" b="1" u="none" strike="noStrike">
                <a:solidFill>
                  <a:srgbClr val="1F4E79"/>
                </a:solidFill>
                <a:effectLst/>
                <a:uFillTx/>
                <a:latin typeface="Calibri"/>
              </a:rPr>
              <a:t>IGMPlot Core</a:t>
            </a:r>
            <a:endParaRPr lang="en-US" sz="1800" b="0" u="none" strike="noStrike">
              <a:solidFill>
                <a:srgbClr val="000000"/>
              </a:solidFill>
              <a:effectLst/>
              <a:uFillTx/>
              <a:latin typeface="Arial"/>
            </a:endParaRPr>
          </a:p>
          <a:p>
            <a:pPr algn="ctr" defTabSz="914400">
              <a:lnSpc>
                <a:spcPct val="100000"/>
              </a:lnSpc>
            </a:pPr>
            <a:r>
              <a:rPr lang="en-US" sz="1400" b="0" u="none" strike="noStrike">
                <a:solidFill>
                  <a:srgbClr val="1A1A1A"/>
                </a:solidFill>
                <a:effectLst/>
                <a:uFillTx/>
                <a:latin typeface="Calibri"/>
              </a:rPr>
              <a:t>Advanced interaction index calculation</a:t>
            </a:r>
            <a:endParaRPr lang="en-US" sz="1400" b="0" u="none" strike="noStrike">
              <a:solidFill>
                <a:srgbClr val="000000"/>
              </a:solidFill>
              <a:effectLst/>
              <a:uFillTx/>
              <a:latin typeface="Arial"/>
            </a:endParaRPr>
          </a:p>
        </p:txBody>
      </p:sp>
      <p:sp>
        <p:nvSpPr>
          <p:cNvPr id="155" name="Card 3"/>
          <p:cNvSpPr/>
          <p:nvPr/>
        </p:nvSpPr>
        <p:spPr>
          <a:xfrm>
            <a:off x="6078960" y="1355040"/>
            <a:ext cx="2653560" cy="2972520"/>
          </a:xfrm>
          <a:prstGeom prst="roundRect">
            <a:avLst>
              <a:gd name="adj" fmla="val 16667"/>
            </a:avLst>
          </a:prstGeom>
          <a:solidFill>
            <a:schemeClr val="accent1">
              <a:lumMod val="15000"/>
              <a:lumOff val="85000"/>
            </a:schemeClr>
          </a:solidFill>
          <a:ln w="0">
            <a:noFill/>
          </a:ln>
        </p:spPr>
        <p:style>
          <a:lnRef idx="0">
            <a:scrgbClr r="0" g="0" b="0"/>
          </a:lnRef>
          <a:fillRef idx="0">
            <a:scrgbClr r="0" g="0" b="0"/>
          </a:fillRef>
          <a:effectRef idx="0">
            <a:scrgbClr r="0" g="0" b="0"/>
          </a:effectRef>
          <a:fontRef idx="minor"/>
        </p:style>
        <p:txBody>
          <a:bodyPr lIns="180000" tIns="180000" rIns="180000" bIns="180000" anchor="t">
            <a:noAutofit/>
          </a:bodyPr>
          <a:lstStyle/>
          <a:p>
            <a:pPr algn="ctr" defTabSz="914400">
              <a:lnSpc>
                <a:spcPct val="100000"/>
              </a:lnSpc>
            </a:pPr>
            <a:r>
              <a:rPr lang="en-US" sz="1800" b="1" u="none" strike="noStrike">
                <a:solidFill>
                  <a:srgbClr val="1F4E79"/>
                </a:solidFill>
                <a:effectLst/>
                <a:uFillTx/>
                <a:latin typeface="Calibri"/>
              </a:rPr>
              <a:t>Visual Analytics</a:t>
            </a:r>
            <a:endParaRPr lang="en-US" sz="1800" b="0" u="none" strike="noStrike">
              <a:solidFill>
                <a:srgbClr val="000000"/>
              </a:solidFill>
              <a:effectLst/>
              <a:uFillTx/>
              <a:latin typeface="Arial"/>
            </a:endParaRPr>
          </a:p>
          <a:p>
            <a:pPr algn="ctr" defTabSz="914400">
              <a:lnSpc>
                <a:spcPct val="100000"/>
              </a:lnSpc>
            </a:pPr>
            <a:r>
              <a:rPr lang="en-US" sz="1400" b="0" u="none" strike="noStrike">
                <a:solidFill>
                  <a:srgbClr val="1A1A1A"/>
                </a:solidFill>
                <a:effectLst/>
                <a:uFillTx/>
                <a:latin typeface="Calibri"/>
              </a:rPr>
              <a:t>Matplotlib &amp; VMD for mechanistic mapping</a:t>
            </a:r>
            <a:endParaRPr lang="en-US" sz="1400" b="0" u="none" strike="noStrike">
              <a:solidFill>
                <a:srgbClr val="000000"/>
              </a:solidFill>
              <a:effectLst/>
              <a:uFillTx/>
              <a:latin typeface="Arial"/>
            </a:endParaRPr>
          </a:p>
        </p:txBody>
      </p:sp>
      <p:sp>
        <p:nvSpPr>
          <p:cNvPr id="156" name="Text 37"/>
          <p:cNvSpPr/>
          <p:nvPr/>
        </p:nvSpPr>
        <p:spPr>
          <a:xfrm>
            <a:off x="8656200" y="48218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11</a:t>
            </a:r>
            <a:endParaRPr lang="en-US" sz="10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 1"/>
          <p:cNvSpPr/>
          <p:nvPr/>
        </p:nvSpPr>
        <p:spPr>
          <a:xfrm>
            <a:off x="1895040" y="2184480"/>
            <a:ext cx="5353920" cy="77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400" b="1" u="none" strike="noStrike">
                <a:solidFill>
                  <a:srgbClr val="1F4E79"/>
                </a:solidFill>
                <a:effectLst/>
                <a:uFillTx/>
                <a:latin typeface="Calibri"/>
                <a:ea typeface="Calibri"/>
              </a:rPr>
              <a:t>Automatization</a:t>
            </a:r>
            <a:endParaRPr lang="en-US" sz="5400" b="0" u="none" strike="noStrike">
              <a:solidFill>
                <a:srgbClr val="000000"/>
              </a:solidFill>
              <a:effectLst/>
              <a:uFillTx/>
              <a:latin typeface="Arial"/>
            </a:endParaRPr>
          </a:p>
          <a:p>
            <a:pPr algn="ctr" defTabSz="914400">
              <a:lnSpc>
                <a:spcPct val="100000"/>
              </a:lnSpc>
              <a:tabLst>
                <a:tab pos="0" algn="l"/>
              </a:tabLst>
            </a:pPr>
            <a:r>
              <a:rPr lang="en-US" sz="5400" b="1" u="none" strike="noStrike">
                <a:solidFill>
                  <a:srgbClr val="1F4E79"/>
                </a:solidFill>
                <a:effectLst/>
                <a:uFillTx/>
                <a:latin typeface="Calibri"/>
                <a:ea typeface="Calibri"/>
              </a:rPr>
              <a:t>Methodology</a:t>
            </a:r>
            <a:endParaRPr lang="en-US" sz="5400" b="0" u="none" strike="noStrike">
              <a:solidFill>
                <a:srgbClr val="000000"/>
              </a:solidFill>
              <a:effectLst/>
              <a:uFillTx/>
              <a:latin typeface="Arial"/>
            </a:endParaRPr>
          </a:p>
        </p:txBody>
      </p:sp>
      <p:sp>
        <p:nvSpPr>
          <p:cNvPr id="158" name="Shape 2"/>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59" name="Text 20"/>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160" name="Text 21"/>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Text 24"/>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Script-workflow</a:t>
            </a:r>
            <a:endParaRPr lang="en-US" sz="2800" b="0" u="none" strike="noStrike">
              <a:solidFill>
                <a:srgbClr val="000000"/>
              </a:solidFill>
              <a:effectLst/>
              <a:uFillTx/>
              <a:latin typeface="Arial"/>
            </a:endParaRPr>
          </a:p>
        </p:txBody>
      </p:sp>
      <p:sp>
        <p:nvSpPr>
          <p:cNvPr id="163" name="Shape 3"/>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64" name="Text 27"/>
          <p:cNvSpPr/>
          <p:nvPr/>
        </p:nvSpPr>
        <p:spPr>
          <a:xfrm>
            <a:off x="8656200" y="48218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11</a:t>
            </a:r>
            <a:endParaRPr lang="en-US" sz="1000" b="0" u="none" strike="noStrike">
              <a:solidFill>
                <a:srgbClr val="000000"/>
              </a:solidFill>
              <a:effectLst/>
              <a:uFillTx/>
              <a:latin typeface="Arial"/>
            </a:endParaRPr>
          </a:p>
        </p:txBody>
      </p:sp>
      <p:pic>
        <p:nvPicPr>
          <p:cNvPr id="165" name="Picture 164"/>
          <p:cNvPicPr/>
          <p:nvPr/>
        </p:nvPicPr>
        <p:blipFill>
          <a:blip r:embed="rId3"/>
          <a:srcRect l="1333" t="28875"/>
          <a:stretch/>
        </p:blipFill>
        <p:spPr>
          <a:xfrm>
            <a:off x="122400" y="914400"/>
            <a:ext cx="9021600" cy="365760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 name="Picture 165"/>
          <p:cNvPicPr/>
          <p:nvPr/>
        </p:nvPicPr>
        <p:blipFill>
          <a:blip r:embed="rId2"/>
          <a:stretch/>
        </p:blipFill>
        <p:spPr>
          <a:xfrm>
            <a:off x="360" y="0"/>
            <a:ext cx="9143640" cy="514296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 name="Text 26"/>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HTML-workflow</a:t>
            </a:r>
            <a:endParaRPr lang="en-US" sz="2800" b="0" u="none" strike="noStrike">
              <a:solidFill>
                <a:srgbClr val="000000"/>
              </a:solidFill>
              <a:effectLst/>
              <a:uFillTx/>
              <a:latin typeface="Arial"/>
            </a:endParaRPr>
          </a:p>
        </p:txBody>
      </p:sp>
      <p:sp>
        <p:nvSpPr>
          <p:cNvPr id="168" name="Shape 4"/>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69" name="Text 28"/>
          <p:cNvSpPr/>
          <p:nvPr/>
        </p:nvSpPr>
        <p:spPr>
          <a:xfrm>
            <a:off x="8656200" y="48218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11</a:t>
            </a:r>
            <a:endParaRPr lang="en-US" sz="1000" b="0" u="none" strike="noStrike">
              <a:solidFill>
                <a:srgbClr val="000000"/>
              </a:solidFill>
              <a:effectLst/>
              <a:uFillTx/>
              <a:latin typeface="Arial"/>
            </a:endParaRPr>
          </a:p>
        </p:txBody>
      </p:sp>
      <p:pic>
        <p:nvPicPr>
          <p:cNvPr id="170" name="Picture 169"/>
          <p:cNvPicPr/>
          <p:nvPr/>
        </p:nvPicPr>
        <p:blipFill>
          <a:blip r:embed="rId3"/>
          <a:srcRect l="2498" t="22204" r="2498" b="11120"/>
          <a:stretch/>
        </p:blipFill>
        <p:spPr>
          <a:xfrm>
            <a:off x="360" y="914760"/>
            <a:ext cx="8686440" cy="342864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Picture 170"/>
          <p:cNvPicPr/>
          <p:nvPr/>
        </p:nvPicPr>
        <p:blipFill>
          <a:blip r:embed="rId2"/>
          <a:stretch/>
        </p:blipFill>
        <p:spPr>
          <a:xfrm>
            <a:off x="0" y="0"/>
            <a:ext cx="9143640" cy="514296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icture 171"/>
          <p:cNvPicPr/>
          <p:nvPr/>
        </p:nvPicPr>
        <p:blipFill>
          <a:blip r:embed="rId2"/>
          <a:stretch/>
        </p:blipFill>
        <p:spPr>
          <a:xfrm>
            <a:off x="0" y="720"/>
            <a:ext cx="9143640" cy="514296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A2C56-D628-F72D-57F7-8A000393847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FEE89C9-9DA8-CB74-8133-7057F9B86F1C}"/>
              </a:ext>
            </a:extLst>
          </p:cNvPr>
          <p:cNvPicPr>
            <a:picLocks noChangeAspect="1"/>
          </p:cNvPicPr>
          <p:nvPr/>
        </p:nvPicPr>
        <p:blipFill>
          <a:blip r:embed="rId2"/>
          <a:srcRect t="640"/>
          <a:stretch>
            <a:fillRect/>
          </a:stretch>
        </p:blipFill>
        <p:spPr>
          <a:xfrm>
            <a:off x="0" y="190499"/>
            <a:ext cx="9967735" cy="4676001"/>
          </a:xfrm>
          <a:prstGeom prst="rect">
            <a:avLst/>
          </a:prstGeom>
        </p:spPr>
      </p:pic>
      <p:sp>
        <p:nvSpPr>
          <p:cNvPr id="8" name="TextBox 7">
            <a:hlinkClick r:id="rId3"/>
            <a:extLst>
              <a:ext uri="{FF2B5EF4-FFF2-40B4-BE49-F238E27FC236}">
                <a16:creationId xmlns:a16="http://schemas.microsoft.com/office/drawing/2014/main" id="{9E679C6D-602B-2FC9-85E6-91E34CAA105A}"/>
              </a:ext>
            </a:extLst>
          </p:cNvPr>
          <p:cNvSpPr txBox="1"/>
          <p:nvPr/>
        </p:nvSpPr>
        <p:spPr>
          <a:xfrm>
            <a:off x="6567654" y="4866501"/>
            <a:ext cx="2576346" cy="276999"/>
          </a:xfrm>
          <a:prstGeom prst="rect">
            <a:avLst/>
          </a:prstGeom>
          <a:noFill/>
        </p:spPr>
        <p:txBody>
          <a:bodyPr wrap="none" rtlCol="0">
            <a:spAutoFit/>
          </a:bodyPr>
          <a:lstStyle/>
          <a:p>
            <a:r>
              <a:rPr lang="en-US" sz="1200" dirty="0"/>
              <a:t>https://git.unistra.fr/ilopezmata/rigm</a:t>
            </a:r>
          </a:p>
        </p:txBody>
      </p:sp>
    </p:spTree>
    <p:extLst>
      <p:ext uri="{BB962C8B-B14F-4D97-AF65-F5344CB8AC3E}">
        <p14:creationId xmlns:p14="http://schemas.microsoft.com/office/powerpoint/2010/main" val="316259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 0"/>
          <p:cNvSpPr/>
          <p:nvPr/>
        </p:nvSpPr>
        <p:spPr>
          <a:xfrm>
            <a:off x="1721520" y="2032920"/>
            <a:ext cx="7592760" cy="1077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400" b="1" u="none" strike="noStrike">
                <a:solidFill>
                  <a:srgbClr val="1F4E79"/>
                </a:solidFill>
                <a:effectLst/>
                <a:uFillTx/>
                <a:latin typeface="Calibri"/>
                <a:ea typeface="Calibri"/>
              </a:rPr>
              <a:t>Analysis &amp; Results</a:t>
            </a:r>
            <a:endParaRPr lang="en-US" sz="5400" b="0" u="none" strike="noStrike">
              <a:solidFill>
                <a:srgbClr val="000000"/>
              </a:solidFill>
              <a:effectLst/>
              <a:uFillTx/>
              <a:latin typeface="Arial"/>
            </a:endParaRPr>
          </a:p>
        </p:txBody>
      </p:sp>
      <p:sp>
        <p:nvSpPr>
          <p:cNvPr id="174"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75"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176" name="Text 14"/>
          <p:cNvSpPr/>
          <p:nvPr/>
        </p:nvSpPr>
        <p:spPr>
          <a:xfrm>
            <a:off x="1035360" y="39502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177"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13</a:t>
            </a:r>
            <a:endParaRPr lang="en-US" sz="10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 name="Picture 177"/>
          <p:cNvPicPr/>
          <p:nvPr/>
        </p:nvPicPr>
        <p:blipFill>
          <a:blip r:embed="rId2"/>
          <a:srcRect t="22218" b="15551"/>
          <a:stretch/>
        </p:blipFill>
        <p:spPr>
          <a:xfrm>
            <a:off x="0" y="1143000"/>
            <a:ext cx="9143640" cy="3200040"/>
          </a:xfrm>
          <a:prstGeom prst="rect">
            <a:avLst/>
          </a:prstGeom>
          <a:noFill/>
          <a:ln w="0">
            <a:noFill/>
          </a:ln>
        </p:spPr>
      </p:pic>
      <p:sp>
        <p:nvSpPr>
          <p:cNvPr id="179" name="Text 29"/>
          <p:cNvSpPr/>
          <p:nvPr/>
        </p:nvSpPr>
        <p:spPr>
          <a:xfrm>
            <a:off x="411840" y="16488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RESULTS</a:t>
            </a:r>
            <a:endParaRPr lang="en-US" sz="2800" b="0" u="none" strike="noStrike">
              <a:solidFill>
                <a:srgbClr val="000000"/>
              </a:solidFill>
              <a:effectLst/>
              <a:uFillTx/>
              <a:latin typeface="Arial"/>
            </a:endParaRPr>
          </a:p>
        </p:txBody>
      </p:sp>
      <p:sp>
        <p:nvSpPr>
          <p:cNvPr id="180" name="Shape 5"/>
          <p:cNvSpPr/>
          <p:nvPr/>
        </p:nvSpPr>
        <p:spPr>
          <a:xfrm>
            <a:off x="411840" y="65880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pic>
        <p:nvPicPr>
          <p:cNvPr id="2" name="Picture 1">
            <a:extLst>
              <a:ext uri="{FF2B5EF4-FFF2-40B4-BE49-F238E27FC236}">
                <a16:creationId xmlns:a16="http://schemas.microsoft.com/office/drawing/2014/main" id="{A75EA1A2-0F54-6654-F73A-698910A754E7}"/>
              </a:ext>
            </a:extLst>
          </p:cNvPr>
          <p:cNvPicPr>
            <a:picLocks noChangeAspect="1"/>
          </p:cNvPicPr>
          <p:nvPr/>
        </p:nvPicPr>
        <p:blipFill>
          <a:blip r:embed="rId3"/>
          <a:srcRect t="21999" r="83" b="22068"/>
          <a:stretch/>
        </p:blipFill>
        <p:spPr>
          <a:xfrm>
            <a:off x="754055" y="2192465"/>
            <a:ext cx="859034" cy="501967"/>
          </a:xfrm>
          <a:custGeom>
            <a:avLst/>
            <a:gdLst>
              <a:gd name="csX0" fmla="*/ 0 w 6569093"/>
              <a:gd name="csY0" fmla="*/ 0 h 3838575"/>
              <a:gd name="csX1" fmla="*/ 6569093 w 6569093"/>
              <a:gd name="csY1" fmla="*/ 0 h 3838575"/>
              <a:gd name="csX2" fmla="*/ 6569093 w 6569093"/>
              <a:gd name="csY2" fmla="*/ 3838575 h 3838575"/>
              <a:gd name="csX3" fmla="*/ 0 w 6569093"/>
              <a:gd name="csY3" fmla="*/ 3838575 h 3838575"/>
            </a:gdLst>
            <a:ahLst/>
            <a:cxnLst>
              <a:cxn ang="0">
                <a:pos x="csX0" y="csY0"/>
              </a:cxn>
              <a:cxn ang="0">
                <a:pos x="csX1" y="csY1"/>
              </a:cxn>
              <a:cxn ang="0">
                <a:pos x="csX2" y="csY2"/>
              </a:cxn>
              <a:cxn ang="0">
                <a:pos x="csX3" y="csY3"/>
              </a:cxn>
            </a:cxnLst>
            <a:rect l="l" t="t" r="r" b="b"/>
            <a:pathLst>
              <a:path w="6569093" h="3838575">
                <a:moveTo>
                  <a:pt x="0" y="0"/>
                </a:moveTo>
                <a:lnTo>
                  <a:pt x="6569093" y="0"/>
                </a:lnTo>
                <a:lnTo>
                  <a:pt x="6569093" y="3838575"/>
                </a:lnTo>
                <a:lnTo>
                  <a:pt x="0" y="3838575"/>
                </a:lnTo>
                <a:close/>
              </a:path>
            </a:pathLst>
          </a:custGeom>
        </p:spPr>
      </p:pic>
      <p:pic>
        <p:nvPicPr>
          <p:cNvPr id="3" name="Picture 2">
            <a:extLst>
              <a:ext uri="{FF2B5EF4-FFF2-40B4-BE49-F238E27FC236}">
                <a16:creationId xmlns:a16="http://schemas.microsoft.com/office/drawing/2014/main" id="{D8EAE275-87F8-CEB0-C650-07D69C93892C}"/>
              </a:ext>
            </a:extLst>
          </p:cNvPr>
          <p:cNvPicPr>
            <a:picLocks noChangeAspect="1"/>
          </p:cNvPicPr>
          <p:nvPr/>
        </p:nvPicPr>
        <p:blipFill>
          <a:blip r:embed="rId4"/>
          <a:srcRect t="25972" r="13" b="18056"/>
          <a:stretch/>
        </p:blipFill>
        <p:spPr>
          <a:xfrm>
            <a:off x="1924487" y="3059431"/>
            <a:ext cx="859036" cy="501968"/>
          </a:xfrm>
          <a:custGeom>
            <a:avLst/>
            <a:gdLst>
              <a:gd name="csX0" fmla="*/ 0 w 6569093"/>
              <a:gd name="csY0" fmla="*/ 0 h 3838575"/>
              <a:gd name="csX1" fmla="*/ 6569093 w 6569093"/>
              <a:gd name="csY1" fmla="*/ 0 h 3838575"/>
              <a:gd name="csX2" fmla="*/ 6569093 w 6569093"/>
              <a:gd name="csY2" fmla="*/ 3838575 h 3838575"/>
              <a:gd name="csX3" fmla="*/ 0 w 6569093"/>
              <a:gd name="csY3" fmla="*/ 3838575 h 3838575"/>
            </a:gdLst>
            <a:ahLst/>
            <a:cxnLst>
              <a:cxn ang="0">
                <a:pos x="csX0" y="csY0"/>
              </a:cxn>
              <a:cxn ang="0">
                <a:pos x="csX1" y="csY1"/>
              </a:cxn>
              <a:cxn ang="0">
                <a:pos x="csX2" y="csY2"/>
              </a:cxn>
              <a:cxn ang="0">
                <a:pos x="csX3" y="csY3"/>
              </a:cxn>
            </a:cxnLst>
            <a:rect l="l" t="t" r="r" b="b"/>
            <a:pathLst>
              <a:path w="6569093" h="3838575">
                <a:moveTo>
                  <a:pt x="0" y="0"/>
                </a:moveTo>
                <a:lnTo>
                  <a:pt x="6569093" y="0"/>
                </a:lnTo>
                <a:lnTo>
                  <a:pt x="6569093" y="3838575"/>
                </a:lnTo>
                <a:lnTo>
                  <a:pt x="0" y="3838575"/>
                </a:lnTo>
                <a:close/>
              </a:path>
            </a:pathLst>
          </a:custGeom>
        </p:spPr>
      </p:pic>
      <p:pic>
        <p:nvPicPr>
          <p:cNvPr id="4" name="Picture 3">
            <a:extLst>
              <a:ext uri="{FF2B5EF4-FFF2-40B4-BE49-F238E27FC236}">
                <a16:creationId xmlns:a16="http://schemas.microsoft.com/office/drawing/2014/main" id="{B92CAB3C-941F-E5F2-AB2A-F6ABDD9665FE}"/>
              </a:ext>
            </a:extLst>
          </p:cNvPr>
          <p:cNvPicPr>
            <a:picLocks noChangeAspect="1"/>
          </p:cNvPicPr>
          <p:nvPr/>
        </p:nvPicPr>
        <p:blipFill>
          <a:blip r:embed="rId5"/>
          <a:srcRect t="18058" b="25962"/>
          <a:stretch/>
        </p:blipFill>
        <p:spPr>
          <a:xfrm>
            <a:off x="3289990" y="1794368"/>
            <a:ext cx="859034" cy="501967"/>
          </a:xfrm>
          <a:custGeom>
            <a:avLst/>
            <a:gdLst>
              <a:gd name="csX0" fmla="*/ 0 w 6569092"/>
              <a:gd name="csY0" fmla="*/ 0 h 3838575"/>
              <a:gd name="csX1" fmla="*/ 6569092 w 6569092"/>
              <a:gd name="csY1" fmla="*/ 0 h 3838575"/>
              <a:gd name="csX2" fmla="*/ 6569092 w 6569092"/>
              <a:gd name="csY2" fmla="*/ 3838575 h 3838575"/>
              <a:gd name="csX3" fmla="*/ 0 w 6569092"/>
              <a:gd name="csY3" fmla="*/ 3838575 h 3838575"/>
            </a:gdLst>
            <a:ahLst/>
            <a:cxnLst>
              <a:cxn ang="0">
                <a:pos x="csX0" y="csY0"/>
              </a:cxn>
              <a:cxn ang="0">
                <a:pos x="csX1" y="csY1"/>
              </a:cxn>
              <a:cxn ang="0">
                <a:pos x="csX2" y="csY2"/>
              </a:cxn>
              <a:cxn ang="0">
                <a:pos x="csX3" y="csY3"/>
              </a:cxn>
            </a:cxnLst>
            <a:rect l="l" t="t" r="r" b="b"/>
            <a:pathLst>
              <a:path w="6569092" h="3838575">
                <a:moveTo>
                  <a:pt x="0" y="0"/>
                </a:moveTo>
                <a:lnTo>
                  <a:pt x="6569092" y="0"/>
                </a:lnTo>
                <a:lnTo>
                  <a:pt x="6569092" y="3838575"/>
                </a:lnTo>
                <a:lnTo>
                  <a:pt x="0" y="3838575"/>
                </a:lnTo>
                <a:close/>
              </a:path>
            </a:pathLst>
          </a:custGeom>
        </p:spPr>
      </p:pic>
      <p:cxnSp>
        <p:nvCxnSpPr>
          <p:cNvPr id="11" name="Straight Connector 10">
            <a:extLst>
              <a:ext uri="{FF2B5EF4-FFF2-40B4-BE49-F238E27FC236}">
                <a16:creationId xmlns:a16="http://schemas.microsoft.com/office/drawing/2014/main" id="{F58EB835-1706-1059-A985-EE4080FFBADF}"/>
              </a:ext>
            </a:extLst>
          </p:cNvPr>
          <p:cNvCxnSpPr/>
          <p:nvPr/>
        </p:nvCxnSpPr>
        <p:spPr>
          <a:xfrm>
            <a:off x="754055" y="2792825"/>
            <a:ext cx="41452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293776B-E5DF-D12C-3323-7F8AAFDA1720}"/>
              </a:ext>
            </a:extLst>
          </p:cNvPr>
          <p:cNvCxnSpPr/>
          <p:nvPr/>
        </p:nvCxnSpPr>
        <p:spPr>
          <a:xfrm>
            <a:off x="2093905" y="3764375"/>
            <a:ext cx="41452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C787C4-6833-1414-CC2C-8C67875F0FEF}"/>
              </a:ext>
            </a:extLst>
          </p:cNvPr>
          <p:cNvCxnSpPr/>
          <p:nvPr/>
        </p:nvCxnSpPr>
        <p:spPr>
          <a:xfrm>
            <a:off x="3509955" y="1554575"/>
            <a:ext cx="41452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Picture 180"/>
          <p:cNvPicPr/>
          <p:nvPr/>
        </p:nvPicPr>
        <p:blipFill>
          <a:blip r:embed="rId2"/>
          <a:stretch/>
        </p:blipFill>
        <p:spPr>
          <a:xfrm>
            <a:off x="2057400" y="0"/>
            <a:ext cx="4927320" cy="514332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 0"/>
          <p:cNvSpPr/>
          <p:nvPr/>
        </p:nvSpPr>
        <p:spPr>
          <a:xfrm>
            <a:off x="1703880" y="2522160"/>
            <a:ext cx="6146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400" b="1" u="none" strike="noStrike">
                <a:solidFill>
                  <a:srgbClr val="1F4E79"/>
                </a:solidFill>
                <a:effectLst/>
                <a:uFillTx/>
                <a:latin typeface="Calibri"/>
                <a:ea typeface="Calibri"/>
              </a:rPr>
              <a:t>Conclusion</a:t>
            </a:r>
            <a:endParaRPr lang="en-US" sz="5400" b="0" u="none" strike="noStrike">
              <a:solidFill>
                <a:srgbClr val="000000"/>
              </a:solidFill>
              <a:effectLst/>
              <a:uFillTx/>
              <a:latin typeface="Arial"/>
            </a:endParaRPr>
          </a:p>
        </p:txBody>
      </p:sp>
      <p:sp>
        <p:nvSpPr>
          <p:cNvPr id="183"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84" name="Text 8"/>
          <p:cNvSpPr/>
          <p:nvPr/>
        </p:nvSpPr>
        <p:spPr>
          <a:xfrm>
            <a:off x="1035360" y="3539880"/>
            <a:ext cx="4160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600" b="0" u="none" strike="noStrike">
              <a:solidFill>
                <a:schemeClr val="dk1"/>
              </a:solidFill>
              <a:effectLst/>
              <a:uFillTx/>
              <a:latin typeface="Calibri"/>
            </a:endParaRPr>
          </a:p>
        </p:txBody>
      </p:sp>
      <p:sp>
        <p:nvSpPr>
          <p:cNvPr id="185" name="Text 17"/>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1" u="none" strike="noStrike">
                <a:solidFill>
                  <a:srgbClr val="595959"/>
                </a:solidFill>
                <a:effectLst/>
                <a:uFillTx/>
                <a:latin typeface="Calibri"/>
                <a:ea typeface="Calibri"/>
              </a:rPr>
              <a:t>15</a:t>
            </a:r>
            <a:endParaRPr lang="en-US" sz="10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 name="Text 0"/>
          <p:cNvSpPr/>
          <p:nvPr/>
        </p:nvSpPr>
        <p:spPr>
          <a:xfrm>
            <a:off x="411480" y="164520"/>
            <a:ext cx="8320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rgbClr val="1F4E79"/>
                </a:solidFill>
                <a:effectLst/>
                <a:uFillTx/>
                <a:latin typeface="Calibri"/>
                <a:ea typeface="Calibri"/>
              </a:rPr>
              <a:t>Conclusion</a:t>
            </a:r>
            <a:endParaRPr lang="en-US" sz="2800" b="0" u="none" strike="noStrike">
              <a:solidFill>
                <a:srgbClr val="000000"/>
              </a:solidFill>
              <a:effectLst/>
              <a:uFillTx/>
              <a:latin typeface="Arial"/>
            </a:endParaRPr>
          </a:p>
        </p:txBody>
      </p:sp>
      <p:sp>
        <p:nvSpPr>
          <p:cNvPr id="187"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88" name="Text 2"/>
          <p:cNvSpPr/>
          <p:nvPr/>
        </p:nvSpPr>
        <p:spPr>
          <a:xfrm>
            <a:off x="411480" y="804600"/>
            <a:ext cx="8320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100" b="0" u="none" strike="noStrike">
              <a:solidFill>
                <a:schemeClr val="dk1"/>
              </a:solidFill>
              <a:effectLst/>
              <a:uFillTx/>
              <a:latin typeface="Calibri"/>
            </a:endParaRPr>
          </a:p>
        </p:txBody>
      </p:sp>
      <p:sp>
        <p:nvSpPr>
          <p:cNvPr id="189" name="Text 3"/>
          <p:cNvSpPr/>
          <p:nvPr/>
        </p:nvSpPr>
        <p:spPr>
          <a:xfrm>
            <a:off x="411480" y="2686140"/>
            <a:ext cx="8320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dirty="0">
                <a:solidFill>
                  <a:srgbClr val="2E75B6"/>
                </a:solidFill>
                <a:latin typeface="Calibri"/>
                <a:ea typeface="Calibri"/>
              </a:rPr>
              <a:t>3</a:t>
            </a:r>
            <a:r>
              <a:rPr lang="en-US" sz="1400" b="1" u="none" strike="noStrike" dirty="0">
                <a:solidFill>
                  <a:srgbClr val="2E75B6"/>
                </a:solidFill>
                <a:effectLst/>
                <a:uFillTx/>
                <a:latin typeface="Calibri"/>
                <a:ea typeface="Calibri"/>
              </a:rPr>
              <a:t>.  </a:t>
            </a:r>
            <a:r>
              <a:rPr lang="en-US" sz="1600" b="1" u="none" strike="noStrike" dirty="0">
                <a:solidFill>
                  <a:srgbClr val="2E75B6"/>
                </a:solidFill>
                <a:effectLst/>
                <a:uFillTx/>
                <a:latin typeface="Calibri"/>
                <a:ea typeface="Calibri"/>
              </a:rPr>
              <a:t>Manual mechanism analysis does not scale:</a:t>
            </a:r>
            <a:endParaRPr lang="en-US" sz="1600" b="0" u="none" strike="noStrike" dirty="0">
              <a:solidFill>
                <a:srgbClr val="000000"/>
              </a:solidFill>
              <a:effectLst/>
              <a:uFillTx/>
              <a:latin typeface="Arial"/>
            </a:endParaRPr>
          </a:p>
        </p:txBody>
      </p:sp>
      <p:sp>
        <p:nvSpPr>
          <p:cNvPr id="190" name="Text 4"/>
          <p:cNvSpPr/>
          <p:nvPr/>
        </p:nvSpPr>
        <p:spPr>
          <a:xfrm>
            <a:off x="502920" y="2964996"/>
            <a:ext cx="81378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1A1A1A"/>
                </a:solidFill>
                <a:effectLst/>
                <a:uFillTx/>
                <a:latin typeface="Calibri"/>
                <a:ea typeface="Calibri"/>
              </a:rPr>
              <a:t> A single 46-point IRC took 1~3 minutes by hand — impractical for larger studies sampling hundreds of coordinate optimization steps, even more so with frequency calculations.</a:t>
            </a:r>
            <a:endParaRPr lang="en-US" sz="1600" b="0" u="none" strike="noStrike" dirty="0">
              <a:solidFill>
                <a:srgbClr val="000000"/>
              </a:solidFill>
              <a:effectLst/>
              <a:uFillTx/>
              <a:latin typeface="Arial"/>
            </a:endParaRPr>
          </a:p>
        </p:txBody>
      </p:sp>
      <p:sp>
        <p:nvSpPr>
          <p:cNvPr id="191" name="Text 5"/>
          <p:cNvSpPr/>
          <p:nvPr/>
        </p:nvSpPr>
        <p:spPr>
          <a:xfrm>
            <a:off x="365760" y="1924992"/>
            <a:ext cx="8320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rgbClr val="2E75B6"/>
                </a:solidFill>
                <a:effectLst/>
                <a:uFillTx/>
                <a:latin typeface="Calibri"/>
                <a:ea typeface="Calibri"/>
              </a:rPr>
              <a:t>2.   </a:t>
            </a:r>
            <a:r>
              <a:rPr lang="en-US" sz="1600" b="1" u="none" strike="noStrike" dirty="0">
                <a:solidFill>
                  <a:srgbClr val="2E75B6"/>
                </a:solidFill>
                <a:effectLst/>
                <a:uFillTx/>
                <a:latin typeface="Calibri"/>
                <a:ea typeface="Calibri"/>
              </a:rPr>
              <a:t>Automation removes the bottleneck without losing accuracy</a:t>
            </a:r>
            <a:r>
              <a:rPr lang="en-US" sz="1100" b="1" u="none" strike="noStrike" dirty="0">
                <a:solidFill>
                  <a:srgbClr val="2E75B6"/>
                </a:solidFill>
                <a:effectLst/>
                <a:uFillTx/>
                <a:latin typeface="Calibri"/>
                <a:ea typeface="Calibri"/>
              </a:rPr>
              <a:t>:</a:t>
            </a:r>
            <a:endParaRPr lang="en-US" sz="1100" b="0" u="none" strike="noStrike" dirty="0">
              <a:solidFill>
                <a:srgbClr val="000000"/>
              </a:solidFill>
              <a:effectLst/>
              <a:uFillTx/>
              <a:latin typeface="Arial"/>
            </a:endParaRPr>
          </a:p>
        </p:txBody>
      </p:sp>
      <p:sp>
        <p:nvSpPr>
          <p:cNvPr id="192" name="Text 6"/>
          <p:cNvSpPr/>
          <p:nvPr/>
        </p:nvSpPr>
        <p:spPr>
          <a:xfrm>
            <a:off x="548640" y="2192220"/>
            <a:ext cx="81378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1A1A1A"/>
                </a:solidFill>
                <a:effectLst/>
                <a:uFillTx/>
                <a:latin typeface="Calibri"/>
                <a:ea typeface="Calibri"/>
              </a:rPr>
              <a:t>The same 46 points now process in ~5 minutes, with data visualization included (matplotlib for 2D and VMD for 3D), with fully reproducible results.</a:t>
            </a:r>
            <a:endParaRPr lang="en-US" sz="1600" b="0" u="none" strike="noStrike" dirty="0">
              <a:solidFill>
                <a:srgbClr val="000000"/>
              </a:solidFill>
              <a:effectLst/>
              <a:uFillTx/>
              <a:latin typeface="Arial"/>
            </a:endParaRPr>
          </a:p>
        </p:txBody>
      </p:sp>
      <p:sp>
        <p:nvSpPr>
          <p:cNvPr id="193" name="Text 9"/>
          <p:cNvSpPr/>
          <p:nvPr/>
        </p:nvSpPr>
        <p:spPr>
          <a:xfrm>
            <a:off x="411480" y="1014276"/>
            <a:ext cx="8320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2E75B6"/>
                </a:solidFill>
                <a:effectLst/>
                <a:uFillTx/>
                <a:latin typeface="Calibri"/>
                <a:ea typeface="Calibri"/>
              </a:rPr>
              <a:t>1.  The script scales effortlessly:</a:t>
            </a:r>
            <a:endParaRPr lang="en-US" sz="1600" b="0" u="none" strike="noStrike" dirty="0">
              <a:solidFill>
                <a:srgbClr val="000000"/>
              </a:solidFill>
              <a:effectLst/>
              <a:uFillTx/>
              <a:latin typeface="Arial"/>
            </a:endParaRPr>
          </a:p>
        </p:txBody>
      </p:sp>
      <p:sp>
        <p:nvSpPr>
          <p:cNvPr id="194" name="Text 10"/>
          <p:cNvSpPr/>
          <p:nvPr/>
        </p:nvSpPr>
        <p:spPr>
          <a:xfrm>
            <a:off x="502920" y="1343886"/>
            <a:ext cx="81378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dirty="0">
                <a:solidFill>
                  <a:srgbClr val="1A1A1A"/>
                </a:solidFill>
                <a:latin typeface="Calibri"/>
                <a:ea typeface="Calibri"/>
              </a:rPr>
              <a:t>Python scripting with interactive system where user can add IRC range, file templates, fragment definitions and atomic symbols and python generates all the input files automatically. It calls IGM plot which do all the QM calculations.</a:t>
            </a:r>
            <a:endParaRPr lang="en-US" sz="1600" b="0" u="none" strike="noStrike" dirty="0">
              <a:solidFill>
                <a:srgbClr val="000000"/>
              </a:solidFill>
              <a:effectLst/>
              <a:uFillTx/>
              <a:latin typeface="Arial"/>
            </a:endParaRPr>
          </a:p>
        </p:txBody>
      </p:sp>
      <p:sp>
        <p:nvSpPr>
          <p:cNvPr id="195" name="Text 11"/>
          <p:cNvSpPr/>
          <p:nvPr/>
        </p:nvSpPr>
        <p:spPr>
          <a:xfrm>
            <a:off x="365760" y="3537312"/>
            <a:ext cx="8320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2E75B6"/>
                </a:solidFill>
                <a:effectLst/>
                <a:uFillTx/>
                <a:latin typeface="Calibri"/>
                <a:ea typeface="Calibri"/>
              </a:rPr>
              <a:t>4.  This paves the way for larger </a:t>
            </a:r>
            <a:r>
              <a:rPr lang="en-US" sz="1600" b="1" u="none" strike="noStrike" dirty="0" err="1">
                <a:solidFill>
                  <a:srgbClr val="2E75B6"/>
                </a:solidFill>
                <a:effectLst/>
                <a:uFillTx/>
                <a:latin typeface="Calibri"/>
                <a:ea typeface="Calibri"/>
              </a:rPr>
              <a:t>chemoinformatics</a:t>
            </a:r>
            <a:r>
              <a:rPr lang="en-US" sz="1600" b="1" u="none" strike="noStrike" dirty="0">
                <a:solidFill>
                  <a:srgbClr val="2E75B6"/>
                </a:solidFill>
                <a:effectLst/>
                <a:uFillTx/>
                <a:latin typeface="Calibri"/>
                <a:ea typeface="Calibri"/>
              </a:rPr>
              <a:t> pipelines:</a:t>
            </a:r>
            <a:endParaRPr lang="en-US" sz="1600" b="0" u="none" strike="noStrike" dirty="0">
              <a:solidFill>
                <a:srgbClr val="000000"/>
              </a:solidFill>
              <a:effectLst/>
              <a:uFillTx/>
              <a:latin typeface="Arial"/>
            </a:endParaRPr>
          </a:p>
        </p:txBody>
      </p:sp>
      <p:sp>
        <p:nvSpPr>
          <p:cNvPr id="196" name="Text 12"/>
          <p:cNvSpPr/>
          <p:nvPr/>
        </p:nvSpPr>
        <p:spPr>
          <a:xfrm>
            <a:off x="594360" y="3846432"/>
            <a:ext cx="813780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1A1A1A"/>
                </a:solidFill>
                <a:effectLst/>
                <a:uFillTx/>
                <a:latin typeface="Calibri"/>
                <a:ea typeface="Calibri"/>
              </a:rPr>
              <a:t>Automated, reproducible analysis can feed directly into machine learning and large-scale reaction screening.</a:t>
            </a:r>
            <a:endParaRPr lang="en-US" sz="1600" b="0" u="none" strike="noStrike" dirty="0">
              <a:solidFill>
                <a:srgbClr val="000000"/>
              </a:solidFill>
              <a:effectLst/>
              <a:uFillTx/>
              <a:latin typeface="Arial"/>
            </a:endParaRPr>
          </a:p>
        </p:txBody>
      </p:sp>
      <p:sp>
        <p:nvSpPr>
          <p:cNvPr id="197" name="Shape 13"/>
          <p:cNvSpPr/>
          <p:nvPr/>
        </p:nvSpPr>
        <p:spPr>
          <a:xfrm>
            <a:off x="411480" y="482796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198" name="Text 15"/>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1" u="none" strike="noStrike">
                <a:solidFill>
                  <a:srgbClr val="595959"/>
                </a:solidFill>
                <a:effectLst/>
                <a:uFillTx/>
                <a:latin typeface="Calibri"/>
                <a:ea typeface="Calibri"/>
              </a:rPr>
              <a:t>16</a:t>
            </a:r>
            <a:endParaRPr lang="en-US" sz="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 name="Shape 1"/>
          <p:cNvSpPr/>
          <p:nvPr/>
        </p:nvSpPr>
        <p:spPr>
          <a:xfrm>
            <a:off x="411480" y="65844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200" name="Text 2"/>
          <p:cNvSpPr/>
          <p:nvPr/>
        </p:nvSpPr>
        <p:spPr>
          <a:xfrm>
            <a:off x="411480" y="804600"/>
            <a:ext cx="832068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endParaRPr lang="en-US" sz="1100" b="0" u="none" strike="noStrike">
              <a:solidFill>
                <a:schemeClr val="dk1"/>
              </a:solidFill>
              <a:effectLst/>
              <a:uFillTx/>
              <a:latin typeface="Calibri"/>
            </a:endParaRPr>
          </a:p>
        </p:txBody>
      </p:sp>
      <p:sp>
        <p:nvSpPr>
          <p:cNvPr id="201" name="Shape 13"/>
          <p:cNvSpPr/>
          <p:nvPr/>
        </p:nvSpPr>
        <p:spPr>
          <a:xfrm>
            <a:off x="411480" y="4827960"/>
            <a:ext cx="8320680" cy="27000"/>
          </a:xfrm>
          <a:prstGeom prst="rect">
            <a:avLst/>
          </a:prstGeom>
          <a:solidFill>
            <a:srgbClr val="2E75B6"/>
          </a:solidFill>
          <a:ln w="12600">
            <a:solidFill>
              <a:srgbClr val="2E75B6"/>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endParaRPr lang="en-US" sz="1800" b="0" u="none" strike="noStrike">
              <a:solidFill>
                <a:schemeClr val="dk1"/>
              </a:solidFill>
              <a:effectLst/>
              <a:uFillTx/>
              <a:latin typeface="Calibri"/>
            </a:endParaRPr>
          </a:p>
        </p:txBody>
      </p:sp>
      <p:sp>
        <p:nvSpPr>
          <p:cNvPr id="202" name="Text 14"/>
          <p:cNvSpPr/>
          <p:nvPr/>
        </p:nvSpPr>
        <p:spPr>
          <a:xfrm>
            <a:off x="411480" y="4855320"/>
            <a:ext cx="8320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1F4E79"/>
                </a:solidFill>
                <a:effectLst/>
                <a:uFillTx/>
                <a:latin typeface="Calibri"/>
                <a:ea typeface="Calibri"/>
              </a:rPr>
              <a:t>Thank you for your attention.  Questions?</a:t>
            </a:r>
            <a:endParaRPr lang="en-US" sz="1200" b="0" u="none" strike="noStrike">
              <a:solidFill>
                <a:srgbClr val="000000"/>
              </a:solidFill>
              <a:effectLst/>
              <a:uFillTx/>
              <a:latin typeface="Arial"/>
            </a:endParaRPr>
          </a:p>
        </p:txBody>
      </p:sp>
      <p:sp>
        <p:nvSpPr>
          <p:cNvPr id="203" name="Text 15"/>
          <p:cNvSpPr/>
          <p:nvPr/>
        </p:nvSpPr>
        <p:spPr>
          <a:xfrm>
            <a:off x="8686800" y="4892040"/>
            <a:ext cx="365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1" u="none" strike="noStrike">
                <a:solidFill>
                  <a:srgbClr val="595959"/>
                </a:solidFill>
                <a:effectLst/>
                <a:uFillTx/>
                <a:latin typeface="Calibri"/>
                <a:ea typeface="Calibri"/>
              </a:rPr>
              <a:t>17</a:t>
            </a:r>
            <a:endParaRPr lang="en-US" sz="800" b="0" u="none" strike="noStrike">
              <a:solidFill>
                <a:srgbClr val="000000"/>
              </a:solidFill>
              <a:effectLst/>
              <a:uFillTx/>
              <a:latin typeface="Arial"/>
            </a:endParaRPr>
          </a:p>
        </p:txBody>
      </p:sp>
      <p:sp>
        <p:nvSpPr>
          <p:cNvPr id="204" name="Text 0"/>
          <p:cNvSpPr/>
          <p:nvPr/>
        </p:nvSpPr>
        <p:spPr>
          <a:xfrm>
            <a:off x="1569240" y="2505600"/>
            <a:ext cx="6146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200" b="1" u="none" strike="noStrike">
                <a:solidFill>
                  <a:srgbClr val="1F4E79"/>
                </a:solidFill>
                <a:effectLst/>
                <a:uFillTx/>
                <a:latin typeface="Calibri"/>
                <a:ea typeface="Calibri"/>
              </a:rPr>
              <a:t>Thank you!!</a:t>
            </a:r>
            <a:endParaRPr lang="en-US" sz="7200" b="0" u="none" strike="noStrike">
              <a:solidFill>
                <a:srgbClr val="000000"/>
              </a:solidFill>
              <a:effectLst/>
              <a:uFillTx/>
              <a:latin typeface="Arial"/>
            </a:endParaRPr>
          </a:p>
        </p:txBody>
      </p:sp>
      <p:pic>
        <p:nvPicPr>
          <p:cNvPr id="2" name="Picture 1" descr="Erasmus Mundus Joint Master - ChEMoinformatics+">
            <a:extLst>
              <a:ext uri="{FF2B5EF4-FFF2-40B4-BE49-F238E27FC236}">
                <a16:creationId xmlns:a16="http://schemas.microsoft.com/office/drawing/2014/main" id="{74888DFA-7BBB-D88C-74DB-5EDA70FD0EE4}"/>
              </a:ext>
            </a:extLst>
          </p:cNvPr>
          <p:cNvPicPr>
            <a:picLocks noChangeAspect="1"/>
          </p:cNvPicPr>
          <p:nvPr/>
        </p:nvPicPr>
        <p:blipFill>
          <a:blip r:embed="rId3"/>
          <a:stretch>
            <a:fillRect/>
          </a:stretch>
        </p:blipFill>
        <p:spPr>
          <a:xfrm>
            <a:off x="3093036" y="1212587"/>
            <a:ext cx="2368980" cy="7338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TotalTime>
  <Words>641</Words>
  <Application>Microsoft Office PowerPoint</Application>
  <PresentationFormat>On-screen Show (16:9)</PresentationFormat>
  <Paragraphs>141</Paragraphs>
  <Slides>24</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
  <dc:creator>PptxGenJS</dc:creator>
  <dc:description/>
  <cp:lastModifiedBy>Randy</cp:lastModifiedBy>
  <cp:revision>35</cp:revision>
  <dcterms:created xsi:type="dcterms:W3CDTF">2026-06-07T05:15:43Z</dcterms:created>
  <dcterms:modified xsi:type="dcterms:W3CDTF">2026-06-22T08:31:42Z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b7a7b623fbf04af59723b0eb81aec1b2_23</vt:lpwstr>
  </property>
</Properties>
</file>